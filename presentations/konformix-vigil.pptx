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2024</c:v>
                </c:pt>
              </c:strCache>
            </c:strRef>
          </c:tx>
          <c:spPr>
            <a:solidFill>
              <a:srgbClr val="38BDF8"/>
            </a:solidFill>
            <a:effectLst/>
          </c:spPr>
          <c:invertIfNegative val="0"/>
          <c:dLbls>
            <c:numFmt formatCode="#,##0" sourceLinked="0"/>
            <c:txPr>
              <a:bodyPr/>
              <a:lstStyle/>
              <a:p>
                <a:pPr>
                  <a:defRPr b="0" i="0" strike="noStrike" sz="1100" u="none">
                    <a:solidFill>
                      <a:srgbClr val="E7ECF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Injonctions</c:v>
                  </c:pt>
                  <c:pt idx="1">
                    <c:v>Blâmes</c:v>
                  </c:pt>
                  <c:pt idx="2">
                    <c:v>Avertissements</c:v>
                  </c:pt>
                  <c:pt idx="3">
                    <c:v>Sanctions pécuniaires</c:v>
                  </c:pt>
                </c:lvl>
              </c:multiLvlStrCache>
            </c:multiLvlStrRef>
          </c:cat>
          <c:val>
            <c:numRef>
              <c:f>Sheet1!$B$2:$B$5</c:f>
              <c:numCache>
                <c:formatCode>General</c:formatCode>
                <c:ptCount val="4"/>
                <c:pt idx="0">
                  <c:v>20</c:v>
                </c:pt>
                <c:pt idx="1">
                  <c:v>14</c:v>
                </c:pt>
                <c:pt idx="2">
                  <c:v>6</c:v>
                </c:pt>
                <c:pt idx="3">
                  <c:v>16</c:v>
                </c:pt>
              </c:numCache>
            </c:numRef>
          </c:val>
        </c:ser>
        <c:ser>
          <c:idx val="1"/>
          <c:order val="1"/>
          <c:tx>
            <c:strRef>
              <c:f>Sheet1!$C$1</c:f>
              <c:strCache>
                <c:ptCount val="1"/>
                <c:pt idx="0">
                  <c:v>2025</c:v>
                </c:pt>
              </c:strCache>
            </c:strRef>
          </c:tx>
          <c:spPr>
            <a:solidFill>
              <a:srgbClr val="FBBF24"/>
            </a:solidFill>
            <a:effectLst/>
          </c:spPr>
          <c:invertIfNegative val="0"/>
          <c:dLbls>
            <c:numFmt formatCode="#,##0" sourceLinked="0"/>
            <c:txPr>
              <a:bodyPr/>
              <a:lstStyle/>
              <a:p>
                <a:pPr>
                  <a:defRPr b="0" i="0" strike="noStrike" sz="1100" u="none">
                    <a:solidFill>
                      <a:srgbClr val="E7ECF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Injonctions</c:v>
                  </c:pt>
                  <c:pt idx="1">
                    <c:v>Blâmes</c:v>
                  </c:pt>
                  <c:pt idx="2">
                    <c:v>Avertissements</c:v>
                  </c:pt>
                  <c:pt idx="3">
                    <c:v>Sanctions pécuniaires</c:v>
                  </c:pt>
                </c:lvl>
              </c:multiLvlStrCache>
            </c:multiLvlStrRef>
          </c:cat>
          <c:val>
            <c:numRef>
              <c:f>Sheet1!$C$2:$C$5</c:f>
              <c:numCache>
                <c:formatCode>General</c:formatCode>
                <c:ptCount val="4"/>
                <c:pt idx="0">
                  <c:v>40</c:v>
                </c:pt>
                <c:pt idx="1">
                  <c:v>30</c:v>
                </c:pt>
                <c:pt idx="2">
                  <c:v>6</c:v>
                </c:pt>
                <c:pt idx="3">
                  <c:v>35</c:v>
                </c:pt>
              </c:numCache>
            </c:numRef>
          </c:val>
        </c:ser>
        <c:dLbls>
          <c:numFmt formatCode="#,##0" sourceLinked="0"/>
          <c:txPr>
            <a:bodyPr/>
            <a:lstStyle/>
            <a:p>
              <a:pPr>
                <a:defRPr b="0" i="0" strike="noStrike" sz="1100" u="none">
                  <a:solidFill>
                    <a:srgbClr val="E7ECF6"/>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3A1BC"/>
                </a:solidFill>
                <a:latin typeface="Calibri"/>
              </a:defRPr>
            </a:pPr>
            <a:endParaRPr lang="en-US"/>
          </a:p>
        </c:txPr>
        <c:crossAx val="2094734552"/>
        <c:crosses val="autoZero"/>
        <c:auto val="1"/>
        <c:lblAlgn val="ctr"/>
        <c:noMultiLvlLbl val="1"/>
      </c:catAx>
      <c:valAx>
        <c:axId val="2094734552"/>
        <c:scaling>
          <c:orientation val="minMax"/>
          <c:max val="45"/>
        </c:scaling>
        <c:delete val="0"/>
        <c:axPos val="l"/>
        <c:majorGridlines>
          <c:spPr>
            <a:ln w="12700" cap="flat">
              <a:solidFill>
                <a:srgbClr val="1B274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3A1BC"/>
                </a:solidFill>
                <a:latin typeface="Calibri"/>
              </a:defRPr>
            </a:pPr>
            <a:endParaRPr lang="en-US"/>
          </a:p>
        </c:txPr>
        <c:crossAx val="2094734554"/>
        <c:crosses val="autoZero"/>
        <c:crossBetween val="between"/>
      </c:valAx>
      <c:spPr>
        <a:solidFill>
          <a:srgbClr val="080C17"/>
        </a:solidFill>
        <a:ln>
          <a:noFill/>
        </a:ln>
        <a:effectLst/>
      </c:spPr>
    </c:plotArea>
    <c:legend>
      <c:legendPos val="t"/>
      <c:overlay val="0"/>
      <c:txPr>
        <a:bodyPr/>
        <a:lstStyle/>
        <a:p>
          <a:pPr>
            <a:defRPr sz="1100">
              <a:solidFill>
                <a:srgbClr val="E7ECF6"/>
              </a:solidFill>
              <a:latin typeface="Calibri"/>
              <a:cs typeface="Calibri"/>
            </a:defRPr>
          </a:pPr>
          <a:endParaRPr lang="en-US"/>
        </a:p>
      </c:txPr>
    </c:legend>
    <c:plotVisOnly val="1"/>
    <c:dispBlanksAs val="span"/>
  </c:chart>
  <c:spPr>
    <a:solidFill>
      <a:srgbClr val="080C1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Konformix Vigil : Profilage des clients et surveillance des transactions. Rappeler en une phrase ce que fait le module, puis annoncer le plan : le contexte réglementaire, ce que nous constatons, le produit, la démarche.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déroulé et le temps : une vingtaine de minutes de présentation, le reste en échange. Proposer au client de sauter directement au temps qui l'intéresse.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de la société : un éditeur régional, fondé par des praticiens de la conformité bancaire, qui déploie sans faire sortir les données du périmètre de la banque.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le contexte avant le produit : la contrainte vient du régulateur, pas de nous. Les trois chiffres sont vérifiables auprès de la BCEAO.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bascule de l'argumentaire : le risque n'est plus théorique. Les injonctions ont doublé, les sanctions pécuniaires progressé de 118 % en un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réagir : demander au client lequel de ces quatre constats lui parle le plus. C'est la question qui ouvre la discussion sur le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Énoncer la promesse en une phrase et s'y tenir : Réduire le volume d'alertes tout en augmentant le taux de déclarations de soupçon pertinentes.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dérouler les six fonctions : en développer deux, celles qui répondent au constat retenu par le client, et laisser la fiche produit pour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de l'argumentaire Vigil : on ne promet pas moins d'alertes par magie, on promet un ordre de traitement justifiable.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Relier chaque bénéfice à un indicateur mesurable : c'est ce qui transformera le pilote en généralisation.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Adapter l'entrée en matière selon l'interlocuteur présent : le RCCI achète la preuve, le DSI achète l'absence de projet lourd.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dénigrer les plateformes internationales : elles conviennent aux groupes avec équipe projet dédiée. Notre terrain, c'est le délai et le coût.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diagnostic est l'objet de la vente du jour. Ne pas chercher à vendre la généralisation en première visite.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objections reviennent systématiquement. Les traiter avant qu'elles ne soient posées met le client en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sur le diagnostic à deux semaines : engagement faible pour le client, chiffres en main pour la suite. Repartir avec une date d'extraction.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80F"/>
        </a:solidFill>
      </p:bgPr>
    </p:bg>
    <p:spTree>
      <p:nvGrpSpPr>
        <p:cNvPr id="1" name=""/>
        <p:cNvGrpSpPr/>
        <p:nvPr/>
      </p:nvGrpSpPr>
      <p:grpSpPr>
        <a:xfrm>
          <a:off x="0" y="0"/>
          <a:ext cx="0" cy="0"/>
          <a:chOff x="0" y="0"/>
          <a:chExt cx="0" cy="0"/>
        </a:xfrm>
      </p:grpSpPr>
      <p:sp>
        <p:nvSpPr>
          <p:cNvPr id="2" name="Shape 0"/>
          <p:cNvSpPr/>
          <p:nvPr/>
        </p:nvSpPr>
        <p:spPr>
          <a:xfrm>
            <a:off x="7315200" y="-1828800"/>
            <a:ext cx="6766560" cy="5852160"/>
          </a:xfrm>
          <a:prstGeom prst="ellipse">
            <a:avLst/>
          </a:prstGeom>
          <a:solidFill>
            <a:srgbClr val="38BDF8">
              <a:alpha val="10000"/>
            </a:srgbClr>
          </a:solidFill>
          <a:ln w="12700">
            <a:solidFill>
              <a:srgbClr val="38BDF8">
                <a:alpha val="0"/>
              </a:srgbClr>
            </a:solidFill>
            <a:prstDash val="solid"/>
          </a:ln>
        </p:spPr>
      </p:sp>
      <p:sp>
        <p:nvSpPr>
          <p:cNvPr id="3" name="Shape 1"/>
          <p:cNvSpPr/>
          <p:nvPr/>
        </p:nvSpPr>
        <p:spPr>
          <a:xfrm>
            <a:off x="-1645920" y="3566160"/>
            <a:ext cx="5486400" cy="4572000"/>
          </a:xfrm>
          <a:prstGeom prst="ellipse">
            <a:avLst/>
          </a:prstGeom>
          <a:solidFill>
            <a:srgbClr val="A78BFA">
              <a:alpha val="7000"/>
            </a:srgbClr>
          </a:solidFill>
          <a:ln w="12700">
            <a:solidFill>
              <a:srgbClr val="A78BFA">
                <a:alpha val="0"/>
              </a:srgbClr>
            </a:solidFill>
            <a:prstDash val="solid"/>
          </a:ln>
        </p:spPr>
      </p:sp>
      <p:pic>
        <p:nvPicPr>
          <p:cNvPr id="4" name="Image 0" descr="preencoded.png">    </p:cNvPr>
          <p:cNvPicPr>
            <a:picLocks noChangeAspect="1"/>
          </p:cNvPicPr>
          <p:nvPr/>
        </p:nvPicPr>
        <p:blipFill>
          <a:blip r:embed="rId1"/>
          <a:stretch>
            <a:fillRect/>
          </a:stretch>
        </p:blipFill>
        <p:spPr>
          <a:xfrm>
            <a:off x="685800" y="1051560"/>
            <a:ext cx="1024128" cy="1024128"/>
          </a:xfrm>
          <a:prstGeom prst="rect">
            <a:avLst/>
          </a:prstGeom>
        </p:spPr>
      </p:pic>
      <p:sp>
        <p:nvSpPr>
          <p:cNvPr id="5" name="Text 2"/>
          <p:cNvSpPr txBox="1"/>
          <p:nvPr/>
        </p:nvSpPr>
        <p:spPr>
          <a:xfrm>
            <a:off x="1874520" y="1298448"/>
            <a:ext cx="4572000" cy="54864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Konformix</a:t>
            </a:r>
            <a:endParaRPr lang="en-US" sz="2600" dirty="0"/>
          </a:p>
        </p:txBody>
      </p:sp>
      <p:sp>
        <p:nvSpPr>
          <p:cNvPr id="6" name="Text 3"/>
          <p:cNvSpPr txBox="1"/>
          <p:nvPr/>
        </p:nvSpPr>
        <p:spPr>
          <a:xfrm>
            <a:off x="1892808" y="1755648"/>
            <a:ext cx="5486400" cy="274320"/>
          </a:xfrm>
          <a:prstGeom prst="rect">
            <a:avLst/>
          </a:prstGeom>
          <a:noFill/>
          <a:ln/>
        </p:spPr>
        <p:txBody>
          <a:bodyPr wrap="square" lIns="0" tIns="0" rIns="0" bIns="0" rtlCol="0" anchor="t"/>
          <a:lstStyle/>
          <a:p>
            <a:pPr indent="0" marL="0">
              <a:buNone/>
            </a:pPr>
            <a:r>
              <a:rPr lang="en-US" sz="1200" dirty="0">
                <a:solidFill>
                  <a:srgbClr val="93A1BC"/>
                </a:solidFill>
                <a:latin typeface="Calibri" pitchFamily="34" charset="0"/>
                <a:ea typeface="Calibri" pitchFamily="34" charset="-122"/>
                <a:cs typeface="Calibri" pitchFamily="34" charset="-120"/>
              </a:rPr>
              <a:t>La conformité bancaire, industrialisée.</a:t>
            </a:r>
            <a:endParaRPr lang="en-US" sz="1200" dirty="0"/>
          </a:p>
        </p:txBody>
      </p:sp>
      <p:sp>
        <p:nvSpPr>
          <p:cNvPr id="7" name="Text 4"/>
          <p:cNvSpPr txBox="1"/>
          <p:nvPr/>
        </p:nvSpPr>
        <p:spPr>
          <a:xfrm>
            <a:off x="685800" y="2880360"/>
            <a:ext cx="9144000" cy="274320"/>
          </a:xfrm>
          <a:prstGeom prst="rect">
            <a:avLst/>
          </a:prstGeom>
          <a:noFill/>
          <a:ln/>
        </p:spPr>
        <p:txBody>
          <a:bodyPr wrap="square" lIns="0" tIns="0" rIns="0" bIns="0" rtlCol="0" anchor="t"/>
          <a:lstStyle/>
          <a:p>
            <a:pPr indent="0" marL="0">
              <a:buNone/>
            </a:pPr>
            <a:r>
              <a:rPr lang="en-US" sz="1200" b="1" spc="180" kern="0" dirty="0">
                <a:solidFill>
                  <a:srgbClr val="7DD3FC"/>
                </a:solidFill>
                <a:latin typeface="Calibri" pitchFamily="34" charset="0"/>
                <a:ea typeface="Calibri" pitchFamily="34" charset="-122"/>
                <a:cs typeface="Calibri" pitchFamily="34" charset="-120"/>
              </a:rPr>
              <a:t>PROFILAGE DES CLIENTS ET SURVEILLANCE DES TRANSACTIONS</a:t>
            </a:r>
            <a:endParaRPr lang="en-US" sz="1200" dirty="0"/>
          </a:p>
        </p:txBody>
      </p:sp>
      <p:sp>
        <p:nvSpPr>
          <p:cNvPr id="8" name="Text 5"/>
          <p:cNvSpPr txBox="1"/>
          <p:nvPr/>
        </p:nvSpPr>
        <p:spPr>
          <a:xfrm>
            <a:off x="685800" y="3200400"/>
            <a:ext cx="960120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Konformix Vigil</a:t>
            </a:r>
            <a:endParaRPr lang="en-US" sz="4600" dirty="0"/>
          </a:p>
        </p:txBody>
      </p:sp>
      <p:sp>
        <p:nvSpPr>
          <p:cNvPr id="9" name="Text 6"/>
          <p:cNvSpPr txBox="1"/>
          <p:nvPr/>
        </p:nvSpPr>
        <p:spPr>
          <a:xfrm>
            <a:off x="685800" y="4224528"/>
            <a:ext cx="7223760" cy="914400"/>
          </a:xfrm>
          <a:prstGeom prst="rect">
            <a:avLst/>
          </a:prstGeom>
          <a:noFill/>
          <a:ln/>
        </p:spPr>
        <p:txBody>
          <a:bodyPr wrap="square" lIns="0" tIns="0" rIns="0" bIns="0" rtlCol="0" anchor="t"/>
          <a:lstStyle/>
          <a:p>
            <a:pPr indent="0" marL="0">
              <a:lnSpc>
                <a:spcPts val="2200"/>
              </a:lnSpc>
              <a:buNone/>
            </a:pPr>
            <a:r>
              <a:rPr lang="en-US" sz="1550" dirty="0">
                <a:solidFill>
                  <a:srgbClr val="93A1BC"/>
                </a:solidFill>
                <a:latin typeface="Calibri" pitchFamily="34" charset="0"/>
                <a:ea typeface="Calibri" pitchFamily="34" charset="-122"/>
                <a:cs typeface="Calibri" pitchFamily="34" charset="-120"/>
              </a:rPr>
              <a:t>Classe les clients par niveau de risque, apprend leur comportement normal et n'alerte que sur les écarts qui méritent un examen humain.</a:t>
            </a:r>
            <a:endParaRPr lang="en-US" sz="1550" dirty="0"/>
          </a:p>
        </p:txBody>
      </p:sp>
      <p:sp>
        <p:nvSpPr>
          <p:cNvPr id="10" name="Text 7"/>
          <p:cNvSpPr txBox="1"/>
          <p:nvPr/>
        </p:nvSpPr>
        <p:spPr>
          <a:xfrm>
            <a:off x="685800" y="5897880"/>
            <a:ext cx="5486400" cy="274320"/>
          </a:xfrm>
          <a:prstGeom prst="rect">
            <a:avLst/>
          </a:prstGeom>
          <a:noFill/>
          <a:ln/>
        </p:spPr>
        <p:txBody>
          <a:bodyPr wrap="square" lIns="0" tIns="0" rIns="0" bIns="0" rtlCol="0" anchor="t"/>
          <a:lstStyle/>
          <a:p>
            <a:pPr indent="0" marL="0">
              <a:buNone/>
            </a:pPr>
            <a:r>
              <a:rPr lang="en-US" sz="1200" b="1" dirty="0">
                <a:solidFill>
                  <a:srgbClr val="E7ECF6"/>
                </a:solidFill>
                <a:latin typeface="Calibri" pitchFamily="34" charset="0"/>
                <a:ea typeface="Calibri" pitchFamily="34" charset="-122"/>
                <a:cs typeface="Calibri" pitchFamily="34" charset="-120"/>
              </a:rPr>
              <a:t>Présentation commerciale</a:t>
            </a:r>
            <a:endParaRPr lang="en-US" sz="1200" dirty="0"/>
          </a:p>
        </p:txBody>
      </p:sp>
      <p:sp>
        <p:nvSpPr>
          <p:cNvPr id="11" name="Text 8"/>
          <p:cNvSpPr txBox="1"/>
          <p:nvPr/>
        </p:nvSpPr>
        <p:spPr>
          <a:xfrm>
            <a:off x="6400800" y="5897880"/>
            <a:ext cx="5102352" cy="274320"/>
          </a:xfrm>
          <a:prstGeom prst="rect">
            <a:avLst/>
          </a:prstGeom>
          <a:noFill/>
          <a:ln/>
        </p:spPr>
        <p:txBody>
          <a:bodyPr wrap="square" lIns="0" tIns="0" rIns="0" bIns="0" rtlCol="0" anchor="t"/>
          <a:lstStyle/>
          <a:p>
            <a:pPr algn="r" indent="0" marL="0">
              <a:buNone/>
            </a:pPr>
            <a:r>
              <a:rPr lang="en-US" sz="1200" dirty="0">
                <a:solidFill>
                  <a:srgbClr val="93A1BC"/>
                </a:solidFill>
                <a:latin typeface="Calibri" pitchFamily="34" charset="0"/>
                <a:ea typeface="Calibri" pitchFamily="34" charset="-122"/>
                <a:cs typeface="Calibri" pitchFamily="34" charset="-120"/>
              </a:rPr>
              <a:t>konformix.com  ·  commercial@konformix.com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SOMMAIRE</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Ce que nous allons parcourir</a:t>
            </a:r>
            <a:endParaRPr lang="en-US" sz="3100" dirty="0"/>
          </a:p>
        </p:txBody>
      </p:sp>
      <p:sp>
        <p:nvSpPr>
          <p:cNvPr id="4" name="Text 2"/>
          <p:cNvSpPr txBox="1"/>
          <p:nvPr/>
        </p:nvSpPr>
        <p:spPr>
          <a:xfrm>
            <a:off x="685800" y="1335024"/>
            <a:ext cx="9692640" cy="365760"/>
          </a:xfrm>
          <a:prstGeom prst="rect">
            <a:avLst/>
          </a:prstGeom>
          <a:noFill/>
          <a:ln/>
        </p:spPr>
        <p:txBody>
          <a:bodyPr wrap="square" lIns="0" tIns="0" rIns="0" bIns="0" rtlCol="0" anchor="t"/>
          <a:lstStyle/>
          <a:p>
            <a:pPr indent="0" marL="0">
              <a:buNone/>
            </a:pPr>
            <a:r>
              <a:rPr lang="en-US" sz="1350" dirty="0">
                <a:solidFill>
                  <a:srgbClr val="93A1BC"/>
                </a:solidFill>
                <a:latin typeface="Calibri" pitchFamily="34" charset="0"/>
                <a:ea typeface="Calibri" pitchFamily="34" charset="-122"/>
                <a:cs typeface="Calibri" pitchFamily="34" charset="-120"/>
              </a:rPr>
              <a:t>Quinze pages, quatre temps : qui nous sommes, pourquoi le sujet est urgent, ce que fait le module, comment nous le mettons en place.</a:t>
            </a:r>
            <a:endParaRPr lang="en-US" sz="1350" dirty="0"/>
          </a:p>
        </p:txBody>
      </p:sp>
      <p:sp>
        <p:nvSpPr>
          <p:cNvPr id="5" name="Shape 3"/>
          <p:cNvSpPr/>
          <p:nvPr/>
        </p:nvSpPr>
        <p:spPr>
          <a:xfrm>
            <a:off x="685800" y="2103120"/>
            <a:ext cx="10817352" cy="868680"/>
          </a:xfrm>
          <a:prstGeom prst="roundRect">
            <a:avLst>
              <a:gd name="adj" fmla="val 9474"/>
            </a:avLst>
          </a:prstGeom>
          <a:solidFill>
            <a:srgbClr val="0E1523"/>
          </a:solidFill>
          <a:ln w="12700">
            <a:solidFill>
              <a:srgbClr val="1F2A40"/>
            </a:solidFill>
            <a:prstDash val="solid"/>
          </a:ln>
        </p:spPr>
      </p:sp>
      <p:sp>
        <p:nvSpPr>
          <p:cNvPr id="6" name="Text 4"/>
          <p:cNvSpPr txBox="1"/>
          <p:nvPr/>
        </p:nvSpPr>
        <p:spPr>
          <a:xfrm>
            <a:off x="1051560" y="2322576"/>
            <a:ext cx="731520" cy="457200"/>
          </a:xfrm>
          <a:prstGeom prst="rect">
            <a:avLst/>
          </a:prstGeom>
          <a:noFill/>
          <a:ln/>
        </p:spPr>
        <p:txBody>
          <a:bodyPr wrap="square" lIns="0" tIns="0" rIns="0" bIns="0" rtlCol="0" anchor="t"/>
          <a:lstStyle/>
          <a:p>
            <a:pPr indent="0" marL="0">
              <a:buNone/>
            </a:pPr>
            <a:r>
              <a:rPr lang="en-US" sz="2200" b="1" dirty="0">
                <a:solidFill>
                  <a:srgbClr val="A78BFA"/>
                </a:solidFill>
                <a:latin typeface="Cambria" pitchFamily="34" charset="0"/>
                <a:ea typeface="Cambria" pitchFamily="34" charset="-122"/>
                <a:cs typeface="Cambria" pitchFamily="34" charset="-120"/>
              </a:rPr>
              <a:t>01</a:t>
            </a:r>
            <a:endParaRPr lang="en-US" sz="2200" dirty="0"/>
          </a:p>
        </p:txBody>
      </p:sp>
      <p:sp>
        <p:nvSpPr>
          <p:cNvPr id="7" name="Text 5"/>
          <p:cNvSpPr txBox="1"/>
          <p:nvPr/>
        </p:nvSpPr>
        <p:spPr>
          <a:xfrm>
            <a:off x="1920240" y="2377440"/>
            <a:ext cx="3383280" cy="347472"/>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La société</a:t>
            </a:r>
            <a:endParaRPr lang="en-US" sz="1450" dirty="0"/>
          </a:p>
        </p:txBody>
      </p:sp>
      <p:sp>
        <p:nvSpPr>
          <p:cNvPr id="8" name="Text 6"/>
          <p:cNvSpPr txBox="1"/>
          <p:nvPr/>
        </p:nvSpPr>
        <p:spPr>
          <a:xfrm>
            <a:off x="5440680" y="2377440"/>
            <a:ext cx="4297680" cy="457200"/>
          </a:xfrm>
          <a:prstGeom prst="rect">
            <a:avLst/>
          </a:prstGeom>
          <a:noFill/>
          <a:ln/>
        </p:spPr>
        <p:txBody>
          <a:bodyPr wrap="square" lIns="0" tIns="0" rIns="0" bIns="0" rtlCol="0" anchor="t"/>
          <a:lstStyle/>
          <a:p>
            <a:pPr indent="0" marL="0">
              <a:lnSpc>
                <a:spcPts val="1600"/>
              </a:lnSpc>
              <a:buNone/>
            </a:pPr>
            <a:r>
              <a:rPr lang="en-US" sz="1200" dirty="0">
                <a:solidFill>
                  <a:srgbClr val="93A1BC"/>
                </a:solidFill>
                <a:latin typeface="Calibri" pitchFamily="34" charset="0"/>
                <a:ea typeface="Calibri" pitchFamily="34" charset="-122"/>
                <a:cs typeface="Calibri" pitchFamily="34" charset="-120"/>
              </a:rPr>
              <a:t>Konformix en bref et l'équipe fondatrice</a:t>
            </a:r>
            <a:endParaRPr lang="en-US" sz="1200" dirty="0"/>
          </a:p>
        </p:txBody>
      </p:sp>
      <p:sp>
        <p:nvSpPr>
          <p:cNvPr id="9" name="Text 7"/>
          <p:cNvSpPr txBox="1"/>
          <p:nvPr/>
        </p:nvSpPr>
        <p:spPr>
          <a:xfrm>
            <a:off x="9784080" y="2395728"/>
            <a:ext cx="1371600" cy="274320"/>
          </a:xfrm>
          <a:prstGeom prst="rect">
            <a:avLst/>
          </a:prstGeom>
          <a:noFill/>
          <a:ln/>
        </p:spPr>
        <p:txBody>
          <a:bodyPr wrap="square" lIns="0" tIns="0" rIns="0" bIns="0" rtlCol="0" anchor="t"/>
          <a:lstStyle/>
          <a:p>
            <a:pPr algn="r" indent="0" marL="0">
              <a:buNone/>
            </a:pPr>
            <a:r>
              <a:rPr lang="en-US" sz="1100" dirty="0">
                <a:solidFill>
                  <a:srgbClr val="5B6A85"/>
                </a:solidFill>
                <a:latin typeface="Calibri" pitchFamily="34" charset="0"/>
                <a:ea typeface="Calibri" pitchFamily="34" charset="-122"/>
                <a:cs typeface="Calibri" pitchFamily="34" charset="-120"/>
              </a:rPr>
              <a:t>page 3</a:t>
            </a:r>
            <a:endParaRPr lang="en-US" sz="1100" dirty="0"/>
          </a:p>
        </p:txBody>
      </p:sp>
      <p:sp>
        <p:nvSpPr>
          <p:cNvPr id="10" name="Shape 8"/>
          <p:cNvSpPr/>
          <p:nvPr/>
        </p:nvSpPr>
        <p:spPr>
          <a:xfrm>
            <a:off x="685800" y="3127248"/>
            <a:ext cx="10817352" cy="868680"/>
          </a:xfrm>
          <a:prstGeom prst="roundRect">
            <a:avLst>
              <a:gd name="adj" fmla="val 9474"/>
            </a:avLst>
          </a:prstGeom>
          <a:solidFill>
            <a:srgbClr val="0E1523"/>
          </a:solidFill>
          <a:ln w="12700">
            <a:solidFill>
              <a:srgbClr val="1F2A40"/>
            </a:solidFill>
            <a:prstDash val="solid"/>
          </a:ln>
        </p:spPr>
      </p:sp>
      <p:sp>
        <p:nvSpPr>
          <p:cNvPr id="11" name="Text 9"/>
          <p:cNvSpPr txBox="1"/>
          <p:nvPr/>
        </p:nvSpPr>
        <p:spPr>
          <a:xfrm>
            <a:off x="1051560" y="3346704"/>
            <a:ext cx="731520" cy="457200"/>
          </a:xfrm>
          <a:prstGeom prst="rect">
            <a:avLst/>
          </a:prstGeom>
          <a:noFill/>
          <a:ln/>
        </p:spPr>
        <p:txBody>
          <a:bodyPr wrap="square" lIns="0" tIns="0" rIns="0" bIns="0" rtlCol="0" anchor="t"/>
          <a:lstStyle/>
          <a:p>
            <a:pPr indent="0" marL="0">
              <a:buNone/>
            </a:pPr>
            <a:r>
              <a:rPr lang="en-US" sz="2200" b="1" dirty="0">
                <a:solidFill>
                  <a:srgbClr val="A78BFA"/>
                </a:solidFill>
                <a:latin typeface="Cambria" pitchFamily="34" charset="0"/>
                <a:ea typeface="Cambria" pitchFamily="34" charset="-122"/>
                <a:cs typeface="Cambria" pitchFamily="34" charset="-120"/>
              </a:rPr>
              <a:t>02</a:t>
            </a:r>
            <a:endParaRPr lang="en-US" sz="2200" dirty="0"/>
          </a:p>
        </p:txBody>
      </p:sp>
      <p:sp>
        <p:nvSpPr>
          <p:cNvPr id="12" name="Text 10"/>
          <p:cNvSpPr txBox="1"/>
          <p:nvPr/>
        </p:nvSpPr>
        <p:spPr>
          <a:xfrm>
            <a:off x="1920240" y="3401568"/>
            <a:ext cx="3383280" cy="347472"/>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Le contexte et le constat</a:t>
            </a:r>
            <a:endParaRPr lang="en-US" sz="1450" dirty="0"/>
          </a:p>
        </p:txBody>
      </p:sp>
      <p:sp>
        <p:nvSpPr>
          <p:cNvPr id="13" name="Text 11"/>
          <p:cNvSpPr txBox="1"/>
          <p:nvPr/>
        </p:nvSpPr>
        <p:spPr>
          <a:xfrm>
            <a:off x="5440680" y="3401568"/>
            <a:ext cx="4297680" cy="457200"/>
          </a:xfrm>
          <a:prstGeom prst="rect">
            <a:avLst/>
          </a:prstGeom>
          <a:noFill/>
          <a:ln/>
        </p:spPr>
        <p:txBody>
          <a:bodyPr wrap="square" lIns="0" tIns="0" rIns="0" bIns="0" rtlCol="0" anchor="t"/>
          <a:lstStyle/>
          <a:p>
            <a:pPr indent="0" marL="0">
              <a:lnSpc>
                <a:spcPts val="1600"/>
              </a:lnSpc>
              <a:buNone/>
            </a:pPr>
            <a:r>
              <a:rPr lang="en-US" sz="1200" dirty="0">
                <a:solidFill>
                  <a:srgbClr val="93A1BC"/>
                </a:solidFill>
                <a:latin typeface="Calibri" pitchFamily="34" charset="0"/>
                <a:ea typeface="Calibri" pitchFamily="34" charset="-122"/>
                <a:cs typeface="Calibri" pitchFamily="34" charset="-120"/>
              </a:rPr>
              <a:t>Cadre UEMOA, posture du superviseur, faiblesses du référentiel client</a:t>
            </a:r>
            <a:endParaRPr lang="en-US" sz="1200" dirty="0"/>
          </a:p>
        </p:txBody>
      </p:sp>
      <p:sp>
        <p:nvSpPr>
          <p:cNvPr id="14" name="Text 12"/>
          <p:cNvSpPr txBox="1"/>
          <p:nvPr/>
        </p:nvSpPr>
        <p:spPr>
          <a:xfrm>
            <a:off x="9784080" y="3419856"/>
            <a:ext cx="1371600" cy="274320"/>
          </a:xfrm>
          <a:prstGeom prst="rect">
            <a:avLst/>
          </a:prstGeom>
          <a:noFill/>
          <a:ln/>
        </p:spPr>
        <p:txBody>
          <a:bodyPr wrap="square" lIns="0" tIns="0" rIns="0" bIns="0" rtlCol="0" anchor="t"/>
          <a:lstStyle/>
          <a:p>
            <a:pPr algn="r" indent="0" marL="0">
              <a:buNone/>
            </a:pPr>
            <a:r>
              <a:rPr lang="en-US" sz="1100" dirty="0">
                <a:solidFill>
                  <a:srgbClr val="5B6A85"/>
                </a:solidFill>
                <a:latin typeface="Calibri" pitchFamily="34" charset="0"/>
                <a:ea typeface="Calibri" pitchFamily="34" charset="-122"/>
                <a:cs typeface="Calibri" pitchFamily="34" charset="-120"/>
              </a:rPr>
              <a:t>pages 4 à 6</a:t>
            </a:r>
            <a:endParaRPr lang="en-US" sz="1100" dirty="0"/>
          </a:p>
        </p:txBody>
      </p:sp>
      <p:sp>
        <p:nvSpPr>
          <p:cNvPr id="15" name="Shape 13"/>
          <p:cNvSpPr/>
          <p:nvPr/>
        </p:nvSpPr>
        <p:spPr>
          <a:xfrm>
            <a:off x="685800" y="4151376"/>
            <a:ext cx="10817352" cy="868680"/>
          </a:xfrm>
          <a:prstGeom prst="roundRect">
            <a:avLst>
              <a:gd name="adj" fmla="val 9474"/>
            </a:avLst>
          </a:prstGeom>
          <a:solidFill>
            <a:srgbClr val="0E1523"/>
          </a:solidFill>
          <a:ln w="12700">
            <a:solidFill>
              <a:srgbClr val="38BDF8"/>
            </a:solidFill>
            <a:prstDash val="solid"/>
          </a:ln>
        </p:spPr>
      </p:sp>
      <p:sp>
        <p:nvSpPr>
          <p:cNvPr id="16" name="Text 14"/>
          <p:cNvSpPr txBox="1"/>
          <p:nvPr/>
        </p:nvSpPr>
        <p:spPr>
          <a:xfrm>
            <a:off x="1051560" y="4370832"/>
            <a:ext cx="731520" cy="457200"/>
          </a:xfrm>
          <a:prstGeom prst="rect">
            <a:avLst/>
          </a:prstGeom>
          <a:noFill/>
          <a:ln/>
        </p:spPr>
        <p:txBody>
          <a:bodyPr wrap="square" lIns="0" tIns="0" rIns="0" bIns="0" rtlCol="0" anchor="t"/>
          <a:lstStyle/>
          <a:p>
            <a:pPr indent="0" marL="0">
              <a:buNone/>
            </a:pPr>
            <a:r>
              <a:rPr lang="en-US" sz="2200" b="1" dirty="0">
                <a:solidFill>
                  <a:srgbClr val="38BDF8"/>
                </a:solidFill>
                <a:latin typeface="Cambria" pitchFamily="34" charset="0"/>
                <a:ea typeface="Cambria" pitchFamily="34" charset="-122"/>
                <a:cs typeface="Cambria" pitchFamily="34" charset="-120"/>
              </a:rPr>
              <a:t>03</a:t>
            </a:r>
            <a:endParaRPr lang="en-US" sz="2200" dirty="0"/>
          </a:p>
        </p:txBody>
      </p:sp>
      <p:sp>
        <p:nvSpPr>
          <p:cNvPr id="17" name="Text 15"/>
          <p:cNvSpPr txBox="1"/>
          <p:nvPr/>
        </p:nvSpPr>
        <p:spPr>
          <a:xfrm>
            <a:off x="1920240" y="4425696"/>
            <a:ext cx="3383280" cy="347472"/>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Le module Vigil</a:t>
            </a:r>
            <a:endParaRPr lang="en-US" sz="1450" dirty="0"/>
          </a:p>
        </p:txBody>
      </p:sp>
      <p:sp>
        <p:nvSpPr>
          <p:cNvPr id="18" name="Text 16"/>
          <p:cNvSpPr txBox="1"/>
          <p:nvPr/>
        </p:nvSpPr>
        <p:spPr>
          <a:xfrm>
            <a:off x="5440680" y="4425696"/>
            <a:ext cx="4297680" cy="457200"/>
          </a:xfrm>
          <a:prstGeom prst="rect">
            <a:avLst/>
          </a:prstGeom>
          <a:noFill/>
          <a:ln/>
        </p:spPr>
        <p:txBody>
          <a:bodyPr wrap="square" lIns="0" tIns="0" rIns="0" bIns="0" rtlCol="0" anchor="t"/>
          <a:lstStyle/>
          <a:p>
            <a:pPr indent="0" marL="0">
              <a:lnSpc>
                <a:spcPts val="1600"/>
              </a:lnSpc>
              <a:buNone/>
            </a:pPr>
            <a:r>
              <a:rPr lang="en-US" sz="1200" dirty="0">
                <a:solidFill>
                  <a:srgbClr val="93A1BC"/>
                </a:solidFill>
                <a:latin typeface="Calibri" pitchFamily="34" charset="0"/>
                <a:ea typeface="Calibri" pitchFamily="34" charset="-122"/>
                <a:cs typeface="Calibri" pitchFamily="34" charset="-120"/>
              </a:rPr>
              <a:t>Promesse, fonctionnalités, mise en pratique et bénéfices</a:t>
            </a:r>
            <a:endParaRPr lang="en-US" sz="1200" dirty="0"/>
          </a:p>
        </p:txBody>
      </p:sp>
      <p:sp>
        <p:nvSpPr>
          <p:cNvPr id="19" name="Text 17"/>
          <p:cNvSpPr txBox="1"/>
          <p:nvPr/>
        </p:nvSpPr>
        <p:spPr>
          <a:xfrm>
            <a:off x="9784080" y="4443984"/>
            <a:ext cx="1371600" cy="274320"/>
          </a:xfrm>
          <a:prstGeom prst="rect">
            <a:avLst/>
          </a:prstGeom>
          <a:noFill/>
          <a:ln/>
        </p:spPr>
        <p:txBody>
          <a:bodyPr wrap="square" lIns="0" tIns="0" rIns="0" bIns="0" rtlCol="0" anchor="t"/>
          <a:lstStyle/>
          <a:p>
            <a:pPr algn="r" indent="0" marL="0">
              <a:buNone/>
            </a:pPr>
            <a:r>
              <a:rPr lang="en-US" sz="1100" dirty="0">
                <a:solidFill>
                  <a:srgbClr val="5B6A85"/>
                </a:solidFill>
                <a:latin typeface="Calibri" pitchFamily="34" charset="0"/>
                <a:ea typeface="Calibri" pitchFamily="34" charset="-122"/>
                <a:cs typeface="Calibri" pitchFamily="34" charset="-120"/>
              </a:rPr>
              <a:t>pages 7 à 10</a:t>
            </a:r>
            <a:endParaRPr lang="en-US" sz="1100" dirty="0"/>
          </a:p>
        </p:txBody>
      </p:sp>
      <p:sp>
        <p:nvSpPr>
          <p:cNvPr id="20" name="Shape 18"/>
          <p:cNvSpPr/>
          <p:nvPr/>
        </p:nvSpPr>
        <p:spPr>
          <a:xfrm>
            <a:off x="685800" y="5175504"/>
            <a:ext cx="10817352" cy="868680"/>
          </a:xfrm>
          <a:prstGeom prst="roundRect">
            <a:avLst>
              <a:gd name="adj" fmla="val 9474"/>
            </a:avLst>
          </a:prstGeom>
          <a:solidFill>
            <a:srgbClr val="0E1523"/>
          </a:solidFill>
          <a:ln w="12700">
            <a:solidFill>
              <a:srgbClr val="1F2A40"/>
            </a:solidFill>
            <a:prstDash val="solid"/>
          </a:ln>
        </p:spPr>
      </p:sp>
      <p:sp>
        <p:nvSpPr>
          <p:cNvPr id="21" name="Text 19"/>
          <p:cNvSpPr txBox="1"/>
          <p:nvPr/>
        </p:nvSpPr>
        <p:spPr>
          <a:xfrm>
            <a:off x="1051560" y="5394960"/>
            <a:ext cx="731520" cy="457200"/>
          </a:xfrm>
          <a:prstGeom prst="rect">
            <a:avLst/>
          </a:prstGeom>
          <a:noFill/>
          <a:ln/>
        </p:spPr>
        <p:txBody>
          <a:bodyPr wrap="square" lIns="0" tIns="0" rIns="0" bIns="0" rtlCol="0" anchor="t"/>
          <a:lstStyle/>
          <a:p>
            <a:pPr indent="0" marL="0">
              <a:buNone/>
            </a:pPr>
            <a:r>
              <a:rPr lang="en-US" sz="2200" b="1" dirty="0">
                <a:solidFill>
                  <a:srgbClr val="A78BFA"/>
                </a:solidFill>
                <a:latin typeface="Cambria" pitchFamily="34" charset="0"/>
                <a:ea typeface="Cambria" pitchFamily="34" charset="-122"/>
                <a:cs typeface="Cambria" pitchFamily="34" charset="-120"/>
              </a:rPr>
              <a:t>04</a:t>
            </a:r>
            <a:endParaRPr lang="en-US" sz="2200" dirty="0"/>
          </a:p>
        </p:txBody>
      </p:sp>
      <p:sp>
        <p:nvSpPr>
          <p:cNvPr id="22" name="Text 20"/>
          <p:cNvSpPr txBox="1"/>
          <p:nvPr/>
        </p:nvSpPr>
        <p:spPr>
          <a:xfrm>
            <a:off x="1920240" y="5449824"/>
            <a:ext cx="3383280" cy="347472"/>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La mise en œuvre</a:t>
            </a:r>
            <a:endParaRPr lang="en-US" sz="1450" dirty="0"/>
          </a:p>
        </p:txBody>
      </p:sp>
      <p:sp>
        <p:nvSpPr>
          <p:cNvPr id="23" name="Text 21"/>
          <p:cNvSpPr txBox="1"/>
          <p:nvPr/>
        </p:nvSpPr>
        <p:spPr>
          <a:xfrm>
            <a:off x="5440680" y="5449824"/>
            <a:ext cx="4297680" cy="457200"/>
          </a:xfrm>
          <a:prstGeom prst="rect">
            <a:avLst/>
          </a:prstGeom>
          <a:noFill/>
          <a:ln/>
        </p:spPr>
        <p:txBody>
          <a:bodyPr wrap="square" lIns="0" tIns="0" rIns="0" bIns="0" rtlCol="0" anchor="t"/>
          <a:lstStyle/>
          <a:p>
            <a:pPr indent="0" marL="0">
              <a:lnSpc>
                <a:spcPts val="1600"/>
              </a:lnSpc>
              <a:buNone/>
            </a:pPr>
            <a:r>
              <a:rPr lang="en-US" sz="1200" dirty="0">
                <a:solidFill>
                  <a:srgbClr val="93A1BC"/>
                </a:solidFill>
                <a:latin typeface="Calibri" pitchFamily="34" charset="0"/>
                <a:ea typeface="Calibri" pitchFamily="34" charset="-122"/>
                <a:cs typeface="Calibri" pitchFamily="34" charset="-120"/>
              </a:rPr>
              <a:t>Interlocuteurs, positionnement, démarche en quatre étapes et objections</a:t>
            </a:r>
            <a:endParaRPr lang="en-US" sz="1200" dirty="0"/>
          </a:p>
        </p:txBody>
      </p:sp>
      <p:sp>
        <p:nvSpPr>
          <p:cNvPr id="24" name="Text 22"/>
          <p:cNvSpPr txBox="1"/>
          <p:nvPr/>
        </p:nvSpPr>
        <p:spPr>
          <a:xfrm>
            <a:off x="9784080" y="5468112"/>
            <a:ext cx="1371600" cy="274320"/>
          </a:xfrm>
          <a:prstGeom prst="rect">
            <a:avLst/>
          </a:prstGeom>
          <a:noFill/>
          <a:ln/>
        </p:spPr>
        <p:txBody>
          <a:bodyPr wrap="square" lIns="0" tIns="0" rIns="0" bIns="0" rtlCol="0" anchor="t"/>
          <a:lstStyle/>
          <a:p>
            <a:pPr algn="r" indent="0" marL="0">
              <a:buNone/>
            </a:pPr>
            <a:r>
              <a:rPr lang="en-US" sz="1100" dirty="0">
                <a:solidFill>
                  <a:srgbClr val="5B6A85"/>
                </a:solidFill>
                <a:latin typeface="Calibri" pitchFamily="34" charset="0"/>
                <a:ea typeface="Calibri" pitchFamily="34" charset="-122"/>
                <a:cs typeface="Calibri" pitchFamily="34" charset="-120"/>
              </a:rPr>
              <a:t>pages 11 à 15</a:t>
            </a:r>
            <a:endParaRPr lang="en-US" sz="1100" dirty="0"/>
          </a:p>
        </p:txBody>
      </p:sp>
      <p:sp>
        <p:nvSpPr>
          <p:cNvPr id="25" name="Text 23"/>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26" name="Text 24"/>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LA SOCIÉTÉ</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Konformix en bref</a:t>
            </a:r>
            <a:endParaRPr lang="en-US" sz="3100" dirty="0"/>
          </a:p>
        </p:txBody>
      </p:sp>
      <p:sp>
        <p:nvSpPr>
          <p:cNvPr id="4" name="Text 2"/>
          <p:cNvSpPr txBox="1"/>
          <p:nvPr/>
        </p:nvSpPr>
        <p:spPr>
          <a:xfrm>
            <a:off x="685800" y="1572768"/>
            <a:ext cx="5760720" cy="1600200"/>
          </a:xfrm>
          <a:prstGeom prst="rect">
            <a:avLst/>
          </a:prstGeom>
          <a:noFill/>
          <a:ln/>
        </p:spPr>
        <p:txBody>
          <a:bodyPr wrap="square" lIns="0" tIns="0" rIns="0" bIns="0" rtlCol="0" anchor="t"/>
          <a:lstStyle/>
          <a:p>
            <a:pPr indent="0" marL="0">
              <a:lnSpc>
                <a:spcPts val="2200"/>
              </a:lnSpc>
              <a:buNone/>
            </a:pPr>
            <a:r>
              <a:rPr lang="en-US" sz="1450" dirty="0">
                <a:solidFill>
                  <a:srgbClr val="E7ECF6"/>
                </a:solidFill>
                <a:latin typeface="Calibri" pitchFamily="34" charset="0"/>
                <a:ea typeface="Calibri" pitchFamily="34" charset="-122"/>
                <a:cs typeface="Calibri" pitchFamily="34" charset="-120"/>
              </a:rPr>
              <a:t>Konformix édite deux logiciels de conformité pour les banques et établissements financiers d'Afrique de l'Ouest. Nous industrialisons deux chantiers que la plupart des établissements de l'UEMOA traitent encore sous Excel : la fiabilisation des dossiers KYC, la surveillance des clients et des transactions.</a:t>
            </a:r>
            <a:endParaRPr lang="en-US" sz="1450" dirty="0"/>
          </a:p>
        </p:txBody>
      </p:sp>
      <p:sp>
        <p:nvSpPr>
          <p:cNvPr id="5" name="Text 3"/>
          <p:cNvSpPr txBox="1"/>
          <p:nvPr/>
        </p:nvSpPr>
        <p:spPr>
          <a:xfrm>
            <a:off x="685800" y="3310128"/>
            <a:ext cx="5760720" cy="868680"/>
          </a:xfrm>
          <a:prstGeom prst="rect">
            <a:avLst/>
          </a:prstGeom>
          <a:noFill/>
          <a:ln/>
        </p:spPr>
        <p:txBody>
          <a:bodyPr wrap="square" lIns="0" tIns="0" rIns="0" bIns="0" rtlCol="0" anchor="t"/>
          <a:lstStyle/>
          <a:p>
            <a:pPr indent="0" marL="0">
              <a:lnSpc>
                <a:spcPts val="2000"/>
              </a:lnSpc>
              <a:buNone/>
            </a:pPr>
            <a:r>
              <a:rPr lang="en-US" sz="1300" dirty="0">
                <a:solidFill>
                  <a:srgbClr val="93A1BC"/>
                </a:solidFill>
                <a:latin typeface="Calibri" pitchFamily="34" charset="0"/>
                <a:ea typeface="Calibri" pitchFamily="34" charset="-122"/>
                <a:cs typeface="Calibri" pitchFamily="34" charset="-120"/>
              </a:rPr>
              <a:t>Conçu à Dakar, calibré sur les exigences de la BCEAO et du GIABA, déployé sur l'infrastructure de la banque ou en hébergement souverain régional.</a:t>
            </a:r>
            <a:endParaRPr lang="en-US" sz="1300" dirty="0"/>
          </a:p>
        </p:txBody>
      </p:sp>
      <p:sp>
        <p:nvSpPr>
          <p:cNvPr id="6" name="Shape 4"/>
          <p:cNvSpPr/>
          <p:nvPr/>
        </p:nvSpPr>
        <p:spPr>
          <a:xfrm>
            <a:off x="685800" y="4407408"/>
            <a:ext cx="384048" cy="384048"/>
          </a:xfrm>
          <a:prstGeom prst="roundRect">
            <a:avLst>
              <a:gd name="adj" fmla="val 66667"/>
            </a:avLst>
          </a:prstGeom>
          <a:solidFill>
            <a:srgbClr val="38BDF8">
              <a:alpha val="16000"/>
            </a:srgbClr>
          </a:solidFill>
          <a:ln w="12700">
            <a:solidFill>
              <a:srgbClr val="38BDF8">
                <a:alpha val="40000"/>
              </a:srgbClr>
            </a:solidFill>
            <a:prstDash val="solid"/>
          </a:ln>
        </p:spPr>
      </p:sp>
      <p:pic>
        <p:nvPicPr>
          <p:cNvPr id="7" name="Image 0" descr="preencoded.png">    </p:cNvPr>
          <p:cNvPicPr>
            <a:picLocks noChangeAspect="1"/>
          </p:cNvPicPr>
          <p:nvPr/>
        </p:nvPicPr>
        <p:blipFill>
          <a:blip r:embed="rId1"/>
          <a:stretch>
            <a:fillRect/>
          </a:stretch>
        </p:blipFill>
        <p:spPr>
          <a:xfrm>
            <a:off x="774131" y="4495739"/>
            <a:ext cx="207386" cy="207386"/>
          </a:xfrm>
          <a:prstGeom prst="rect">
            <a:avLst/>
          </a:prstGeom>
        </p:spPr>
      </p:pic>
      <p:sp>
        <p:nvSpPr>
          <p:cNvPr id="8" name="Text 5"/>
          <p:cNvSpPr txBox="1"/>
          <p:nvPr/>
        </p:nvSpPr>
        <p:spPr>
          <a:xfrm>
            <a:off x="1252728" y="4443984"/>
            <a:ext cx="5120640" cy="320040"/>
          </a:xfrm>
          <a:prstGeom prst="rect">
            <a:avLst/>
          </a:prstGeom>
          <a:noFill/>
          <a:ln/>
        </p:spPr>
        <p:txBody>
          <a:bodyPr wrap="square" lIns="0" tIns="0" rIns="0" bIns="0" rtlCol="0" anchor="t"/>
          <a:lstStyle/>
          <a:p>
            <a:pPr indent="0" marL="0">
              <a:buNone/>
            </a:pPr>
            <a:r>
              <a:rPr lang="en-US" sz="1250" dirty="0">
                <a:solidFill>
                  <a:srgbClr val="E7ECF6"/>
                </a:solidFill>
                <a:latin typeface="Calibri" pitchFamily="34" charset="0"/>
                <a:ea typeface="Calibri" pitchFamily="34" charset="-122"/>
                <a:cs typeface="Calibri" pitchFamily="34" charset="-120"/>
              </a:rPr>
              <a:t>Conçu et édité à Dakar, Sénégal</a:t>
            </a:r>
            <a:endParaRPr lang="en-US" sz="1250" dirty="0"/>
          </a:p>
        </p:txBody>
      </p:sp>
      <p:sp>
        <p:nvSpPr>
          <p:cNvPr id="9" name="Shape 6"/>
          <p:cNvSpPr/>
          <p:nvPr/>
        </p:nvSpPr>
        <p:spPr>
          <a:xfrm>
            <a:off x="685800" y="5010912"/>
            <a:ext cx="384048" cy="384048"/>
          </a:xfrm>
          <a:prstGeom prst="roundRect">
            <a:avLst>
              <a:gd name="adj" fmla="val 66667"/>
            </a:avLst>
          </a:prstGeom>
          <a:solidFill>
            <a:srgbClr val="38BDF8">
              <a:alpha val="16000"/>
            </a:srgbClr>
          </a:solidFill>
          <a:ln w="12700">
            <a:solidFill>
              <a:srgbClr val="38BDF8">
                <a:alpha val="40000"/>
              </a:srgbClr>
            </a:solidFill>
            <a:prstDash val="solid"/>
          </a:ln>
        </p:spPr>
      </p:sp>
      <p:pic>
        <p:nvPicPr>
          <p:cNvPr id="10" name="Image 1" descr="preencoded.png">    </p:cNvPr>
          <p:cNvPicPr>
            <a:picLocks noChangeAspect="1"/>
          </p:cNvPicPr>
          <p:nvPr/>
        </p:nvPicPr>
        <p:blipFill>
          <a:blip r:embed="rId2"/>
          <a:stretch>
            <a:fillRect/>
          </a:stretch>
        </p:blipFill>
        <p:spPr>
          <a:xfrm>
            <a:off x="774131" y="5099243"/>
            <a:ext cx="207386" cy="207386"/>
          </a:xfrm>
          <a:prstGeom prst="rect">
            <a:avLst/>
          </a:prstGeom>
        </p:spPr>
      </p:pic>
      <p:sp>
        <p:nvSpPr>
          <p:cNvPr id="11" name="Text 7"/>
          <p:cNvSpPr txBox="1"/>
          <p:nvPr/>
        </p:nvSpPr>
        <p:spPr>
          <a:xfrm>
            <a:off x="1252728" y="5047488"/>
            <a:ext cx="5120640" cy="320040"/>
          </a:xfrm>
          <a:prstGeom prst="rect">
            <a:avLst/>
          </a:prstGeom>
          <a:noFill/>
          <a:ln/>
        </p:spPr>
        <p:txBody>
          <a:bodyPr wrap="square" lIns="0" tIns="0" rIns="0" bIns="0" rtlCol="0" anchor="t"/>
          <a:lstStyle/>
          <a:p>
            <a:pPr indent="0" marL="0">
              <a:buNone/>
            </a:pPr>
            <a:r>
              <a:rPr lang="en-US" sz="1250" dirty="0">
                <a:solidFill>
                  <a:srgbClr val="E7ECF6"/>
                </a:solidFill>
                <a:latin typeface="Calibri" pitchFamily="34" charset="0"/>
                <a:ea typeface="Calibri" pitchFamily="34" charset="-122"/>
                <a:cs typeface="Calibri" pitchFamily="34" charset="-120"/>
              </a:rPr>
              <a:t>Pour les banques et établissements financiers de l'UEMOA</a:t>
            </a:r>
            <a:endParaRPr lang="en-US" sz="1250" dirty="0"/>
          </a:p>
        </p:txBody>
      </p:sp>
      <p:sp>
        <p:nvSpPr>
          <p:cNvPr id="12" name="Shape 8"/>
          <p:cNvSpPr/>
          <p:nvPr/>
        </p:nvSpPr>
        <p:spPr>
          <a:xfrm>
            <a:off x="685800" y="5614416"/>
            <a:ext cx="384048" cy="384048"/>
          </a:xfrm>
          <a:prstGeom prst="roundRect">
            <a:avLst>
              <a:gd name="adj" fmla="val 66667"/>
            </a:avLst>
          </a:prstGeom>
          <a:solidFill>
            <a:srgbClr val="38BDF8">
              <a:alpha val="16000"/>
            </a:srgbClr>
          </a:solidFill>
          <a:ln w="12700">
            <a:solidFill>
              <a:srgbClr val="38BDF8">
                <a:alpha val="40000"/>
              </a:srgbClr>
            </a:solidFill>
            <a:prstDash val="solid"/>
          </a:ln>
        </p:spPr>
      </p:sp>
      <p:pic>
        <p:nvPicPr>
          <p:cNvPr id="13" name="Image 2" descr="preencoded.png">    </p:cNvPr>
          <p:cNvPicPr>
            <a:picLocks noChangeAspect="1"/>
          </p:cNvPicPr>
          <p:nvPr/>
        </p:nvPicPr>
        <p:blipFill>
          <a:blip r:embed="rId3"/>
          <a:stretch>
            <a:fillRect/>
          </a:stretch>
        </p:blipFill>
        <p:spPr>
          <a:xfrm>
            <a:off x="774131" y="5702747"/>
            <a:ext cx="207386" cy="207386"/>
          </a:xfrm>
          <a:prstGeom prst="rect">
            <a:avLst/>
          </a:prstGeom>
        </p:spPr>
      </p:pic>
      <p:sp>
        <p:nvSpPr>
          <p:cNvPr id="14" name="Text 9"/>
          <p:cNvSpPr txBox="1"/>
          <p:nvPr/>
        </p:nvSpPr>
        <p:spPr>
          <a:xfrm>
            <a:off x="1252728" y="5650992"/>
            <a:ext cx="5120640" cy="320040"/>
          </a:xfrm>
          <a:prstGeom prst="rect">
            <a:avLst/>
          </a:prstGeom>
          <a:noFill/>
          <a:ln/>
        </p:spPr>
        <p:txBody>
          <a:bodyPr wrap="square" lIns="0" tIns="0" rIns="0" bIns="0" rtlCol="0" anchor="t"/>
          <a:lstStyle/>
          <a:p>
            <a:pPr indent="0" marL="0">
              <a:buNone/>
            </a:pPr>
            <a:r>
              <a:rPr lang="en-US" sz="1250" dirty="0">
                <a:solidFill>
                  <a:srgbClr val="E7ECF6"/>
                </a:solidFill>
                <a:latin typeface="Calibri" pitchFamily="34" charset="0"/>
                <a:ea typeface="Calibri" pitchFamily="34" charset="-122"/>
                <a:cs typeface="Calibri" pitchFamily="34" charset="-120"/>
              </a:rPr>
              <a:t>Déploiement sur site ou en hébergement souverain régional</a:t>
            </a:r>
            <a:endParaRPr lang="en-US" sz="1250" dirty="0"/>
          </a:p>
        </p:txBody>
      </p:sp>
      <p:sp>
        <p:nvSpPr>
          <p:cNvPr id="15" name="Shape 10"/>
          <p:cNvSpPr/>
          <p:nvPr/>
        </p:nvSpPr>
        <p:spPr>
          <a:xfrm>
            <a:off x="6720840" y="1572768"/>
            <a:ext cx="4782312" cy="4279392"/>
          </a:xfrm>
          <a:prstGeom prst="roundRect">
            <a:avLst>
              <a:gd name="adj" fmla="val 1923"/>
            </a:avLst>
          </a:prstGeom>
          <a:solidFill>
            <a:srgbClr val="0E1523"/>
          </a:solidFill>
          <a:ln w="12700">
            <a:solidFill>
              <a:srgbClr val="1F2A40"/>
            </a:solidFill>
            <a:prstDash val="solid"/>
          </a:ln>
        </p:spPr>
      </p:sp>
      <p:sp>
        <p:nvSpPr>
          <p:cNvPr id="16" name="Text 11"/>
          <p:cNvSpPr txBox="1"/>
          <p:nvPr/>
        </p:nvSpPr>
        <p:spPr>
          <a:xfrm>
            <a:off x="7040880" y="1847088"/>
            <a:ext cx="4114800"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L'équipe fondatrice</a:t>
            </a:r>
            <a:endParaRPr lang="en-US" sz="1500" dirty="0"/>
          </a:p>
        </p:txBody>
      </p:sp>
      <p:sp>
        <p:nvSpPr>
          <p:cNvPr id="17" name="Shape 12"/>
          <p:cNvSpPr/>
          <p:nvPr/>
        </p:nvSpPr>
        <p:spPr>
          <a:xfrm>
            <a:off x="7040880" y="2395728"/>
            <a:ext cx="475488" cy="475488"/>
          </a:xfrm>
          <a:prstGeom prst="roundRect">
            <a:avLst>
              <a:gd name="adj" fmla="val 53846"/>
            </a:avLst>
          </a:prstGeom>
          <a:solidFill>
            <a:srgbClr val="A78BFA">
              <a:alpha val="16000"/>
            </a:srgbClr>
          </a:solidFill>
          <a:ln w="12700">
            <a:solidFill>
              <a:srgbClr val="A78BFA">
                <a:alpha val="40000"/>
              </a:srgbClr>
            </a:solidFill>
            <a:prstDash val="solid"/>
          </a:ln>
        </p:spPr>
      </p:sp>
      <p:pic>
        <p:nvPicPr>
          <p:cNvPr id="18" name="Image 3" descr="preencoded.png">    </p:cNvPr>
          <p:cNvPicPr>
            <a:picLocks noChangeAspect="1"/>
          </p:cNvPicPr>
          <p:nvPr/>
        </p:nvPicPr>
        <p:blipFill>
          <a:blip r:embed="rId4"/>
          <a:stretch>
            <a:fillRect/>
          </a:stretch>
        </p:blipFill>
        <p:spPr>
          <a:xfrm>
            <a:off x="7150242" y="2505090"/>
            <a:ext cx="256764" cy="256764"/>
          </a:xfrm>
          <a:prstGeom prst="rect">
            <a:avLst/>
          </a:prstGeom>
        </p:spPr>
      </p:pic>
      <p:sp>
        <p:nvSpPr>
          <p:cNvPr id="19" name="Text 13"/>
          <p:cNvSpPr txBox="1"/>
          <p:nvPr/>
        </p:nvSpPr>
        <p:spPr>
          <a:xfrm>
            <a:off x="7699248" y="2377440"/>
            <a:ext cx="3566160" cy="274320"/>
          </a:xfrm>
          <a:prstGeom prst="rect">
            <a:avLst/>
          </a:prstGeom>
          <a:noFill/>
          <a:ln/>
        </p:spPr>
        <p:txBody>
          <a:bodyPr wrap="square" lIns="0" tIns="0" rIns="0" bIns="0" rtlCol="0" anchor="t"/>
          <a:lstStyle/>
          <a:p>
            <a:pPr indent="0" marL="0">
              <a:buNone/>
            </a:pPr>
            <a:r>
              <a:rPr lang="en-US" sz="1350" b="1" dirty="0">
                <a:solidFill>
                  <a:srgbClr val="E7ECF6"/>
                </a:solidFill>
                <a:latin typeface="Calibri" pitchFamily="34" charset="0"/>
                <a:ea typeface="Calibri" pitchFamily="34" charset="-122"/>
                <a:cs typeface="Calibri" pitchFamily="34" charset="-120"/>
              </a:rPr>
              <a:t>Mamadou Fallou Sylla</a:t>
            </a:r>
            <a:endParaRPr lang="en-US" sz="1350" dirty="0"/>
          </a:p>
        </p:txBody>
      </p:sp>
      <p:sp>
        <p:nvSpPr>
          <p:cNvPr id="20" name="Text 14"/>
          <p:cNvSpPr txBox="1"/>
          <p:nvPr/>
        </p:nvSpPr>
        <p:spPr>
          <a:xfrm>
            <a:off x="7699248" y="2651760"/>
            <a:ext cx="3566160" cy="256032"/>
          </a:xfrm>
          <a:prstGeom prst="rect">
            <a:avLst/>
          </a:prstGeom>
          <a:noFill/>
          <a:ln/>
        </p:spPr>
        <p:txBody>
          <a:bodyPr wrap="square" lIns="0" tIns="0" rIns="0" bIns="0" rtlCol="0" anchor="t"/>
          <a:lstStyle/>
          <a:p>
            <a:pPr indent="0" marL="0">
              <a:buNone/>
            </a:pPr>
            <a:r>
              <a:rPr lang="en-US" sz="1100" dirty="0">
                <a:solidFill>
                  <a:srgbClr val="A78BFA"/>
                </a:solidFill>
                <a:latin typeface="Calibri" pitchFamily="34" charset="0"/>
                <a:ea typeface="Calibri" pitchFamily="34" charset="-122"/>
                <a:cs typeface="Calibri" pitchFamily="34" charset="-120"/>
              </a:rPr>
              <a:t>Cofondateur — Produit &amp; Conformité</a:t>
            </a:r>
            <a:endParaRPr lang="en-US" sz="1100" dirty="0"/>
          </a:p>
        </p:txBody>
      </p:sp>
      <p:sp>
        <p:nvSpPr>
          <p:cNvPr id="21" name="Text 15"/>
          <p:cNvSpPr txBox="1"/>
          <p:nvPr/>
        </p:nvSpPr>
        <p:spPr>
          <a:xfrm>
            <a:off x="7040880" y="2999232"/>
            <a:ext cx="4206240" cy="91440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Praticien de la conformité et du contrôle permanent en banque, concepteur de la première plateforme de notation de la fiabilité des données KYC.</a:t>
            </a:r>
            <a:endParaRPr lang="en-US" sz="1100" dirty="0"/>
          </a:p>
        </p:txBody>
      </p:sp>
      <p:sp>
        <p:nvSpPr>
          <p:cNvPr id="22" name="Shape 16"/>
          <p:cNvSpPr/>
          <p:nvPr/>
        </p:nvSpPr>
        <p:spPr>
          <a:xfrm>
            <a:off x="7040880" y="4178808"/>
            <a:ext cx="475488" cy="475488"/>
          </a:xfrm>
          <a:prstGeom prst="roundRect">
            <a:avLst>
              <a:gd name="adj" fmla="val 53846"/>
            </a:avLst>
          </a:prstGeom>
          <a:solidFill>
            <a:srgbClr val="A78BFA">
              <a:alpha val="16000"/>
            </a:srgbClr>
          </a:solidFill>
          <a:ln w="12700">
            <a:solidFill>
              <a:srgbClr val="A78BFA">
                <a:alpha val="40000"/>
              </a:srgbClr>
            </a:solidFill>
            <a:prstDash val="solid"/>
          </a:ln>
        </p:spPr>
      </p:sp>
      <p:pic>
        <p:nvPicPr>
          <p:cNvPr id="23" name="Image 4" descr="preencoded.png">    </p:cNvPr>
          <p:cNvPicPr>
            <a:picLocks noChangeAspect="1"/>
          </p:cNvPicPr>
          <p:nvPr/>
        </p:nvPicPr>
        <p:blipFill>
          <a:blip r:embed="rId5"/>
          <a:stretch>
            <a:fillRect/>
          </a:stretch>
        </p:blipFill>
        <p:spPr>
          <a:xfrm>
            <a:off x="7150242" y="4288170"/>
            <a:ext cx="256764" cy="256764"/>
          </a:xfrm>
          <a:prstGeom prst="rect">
            <a:avLst/>
          </a:prstGeom>
        </p:spPr>
      </p:pic>
      <p:sp>
        <p:nvSpPr>
          <p:cNvPr id="24" name="Text 17"/>
          <p:cNvSpPr txBox="1"/>
          <p:nvPr/>
        </p:nvSpPr>
        <p:spPr>
          <a:xfrm>
            <a:off x="7699248" y="4160520"/>
            <a:ext cx="3566160" cy="274320"/>
          </a:xfrm>
          <a:prstGeom prst="rect">
            <a:avLst/>
          </a:prstGeom>
          <a:noFill/>
          <a:ln/>
        </p:spPr>
        <p:txBody>
          <a:bodyPr wrap="square" lIns="0" tIns="0" rIns="0" bIns="0" rtlCol="0" anchor="t"/>
          <a:lstStyle/>
          <a:p>
            <a:pPr indent="0" marL="0">
              <a:buNone/>
            </a:pPr>
            <a:r>
              <a:rPr lang="en-US" sz="1350" b="1" dirty="0">
                <a:solidFill>
                  <a:srgbClr val="E7ECF6"/>
                </a:solidFill>
                <a:latin typeface="Calibri" pitchFamily="34" charset="0"/>
                <a:ea typeface="Calibri" pitchFamily="34" charset="-122"/>
                <a:cs typeface="Calibri" pitchFamily="34" charset="-120"/>
              </a:rPr>
              <a:t>Mansour Diop</a:t>
            </a:r>
            <a:endParaRPr lang="en-US" sz="1350" dirty="0"/>
          </a:p>
        </p:txBody>
      </p:sp>
      <p:sp>
        <p:nvSpPr>
          <p:cNvPr id="25" name="Text 18"/>
          <p:cNvSpPr txBox="1"/>
          <p:nvPr/>
        </p:nvSpPr>
        <p:spPr>
          <a:xfrm>
            <a:off x="7699248" y="4434840"/>
            <a:ext cx="3566160" cy="256032"/>
          </a:xfrm>
          <a:prstGeom prst="rect">
            <a:avLst/>
          </a:prstGeom>
          <a:noFill/>
          <a:ln/>
        </p:spPr>
        <p:txBody>
          <a:bodyPr wrap="square" lIns="0" tIns="0" rIns="0" bIns="0" rtlCol="0" anchor="t"/>
          <a:lstStyle/>
          <a:p>
            <a:pPr indent="0" marL="0">
              <a:buNone/>
            </a:pPr>
            <a:r>
              <a:rPr lang="en-US" sz="1100" dirty="0">
                <a:solidFill>
                  <a:srgbClr val="A78BFA"/>
                </a:solidFill>
                <a:latin typeface="Calibri" pitchFamily="34" charset="0"/>
                <a:ea typeface="Calibri" pitchFamily="34" charset="-122"/>
                <a:cs typeface="Calibri" pitchFamily="34" charset="-120"/>
              </a:rPr>
              <a:t>Cofondateur — Technologie &amp; Opérations</a:t>
            </a:r>
            <a:endParaRPr lang="en-US" sz="1100" dirty="0"/>
          </a:p>
        </p:txBody>
      </p:sp>
      <p:sp>
        <p:nvSpPr>
          <p:cNvPr id="26" name="Text 19"/>
          <p:cNvSpPr txBox="1"/>
          <p:nvPr/>
        </p:nvSpPr>
        <p:spPr>
          <a:xfrm>
            <a:off x="7040880" y="4782312"/>
            <a:ext cx="4206240" cy="91440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Architecture logicielle, déploiements chez les établissements clients et sécurité de la plateforme.</a:t>
            </a:r>
            <a:endParaRPr lang="en-US" sz="1100" dirty="0"/>
          </a:p>
        </p:txBody>
      </p:sp>
      <p:sp>
        <p:nvSpPr>
          <p:cNvPr id="27" name="Text 20"/>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28" name="Text 21"/>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LE CONTEXTE</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Un cadre durci, un superviseur plus ferme</a:t>
            </a:r>
            <a:endParaRPr lang="en-US" sz="3100" dirty="0"/>
          </a:p>
        </p:txBody>
      </p:sp>
      <p:sp>
        <p:nvSpPr>
          <p:cNvPr id="4" name="Shape 2"/>
          <p:cNvSpPr/>
          <p:nvPr/>
        </p:nvSpPr>
        <p:spPr>
          <a:xfrm>
            <a:off x="685800" y="1828800"/>
            <a:ext cx="3392424" cy="2331720"/>
          </a:xfrm>
          <a:prstGeom prst="roundRect">
            <a:avLst>
              <a:gd name="adj" fmla="val 3529"/>
            </a:avLst>
          </a:prstGeom>
          <a:solidFill>
            <a:srgbClr val="0E1523"/>
          </a:solidFill>
          <a:ln w="12700">
            <a:solidFill>
              <a:srgbClr val="1F2A40"/>
            </a:solidFill>
            <a:prstDash val="solid"/>
          </a:ln>
        </p:spPr>
      </p:sp>
      <p:sp>
        <p:nvSpPr>
          <p:cNvPr id="5" name="Text 3"/>
          <p:cNvSpPr txBox="1"/>
          <p:nvPr/>
        </p:nvSpPr>
        <p:spPr>
          <a:xfrm>
            <a:off x="1005840" y="2011680"/>
            <a:ext cx="2752344" cy="822960"/>
          </a:xfrm>
          <a:prstGeom prst="rect">
            <a:avLst/>
          </a:prstGeom>
          <a:noFill/>
          <a:ln/>
        </p:spPr>
        <p:txBody>
          <a:bodyPr wrap="square" lIns="0" tIns="0" rIns="0" bIns="0" rtlCol="0" anchor="t"/>
          <a:lstStyle/>
          <a:p>
            <a:pPr indent="0" marL="0">
              <a:buNone/>
            </a:pPr>
            <a:r>
              <a:rPr lang="en-US" sz="5400" b="1" dirty="0">
                <a:solidFill>
                  <a:srgbClr val="38BDF8"/>
                </a:solidFill>
                <a:latin typeface="Cambria" pitchFamily="34" charset="0"/>
                <a:ea typeface="Cambria" pitchFamily="34" charset="-122"/>
                <a:cs typeface="Cambria" pitchFamily="34" charset="-120"/>
              </a:rPr>
              <a:t>161</a:t>
            </a:r>
            <a:endParaRPr lang="en-US" sz="5400" dirty="0"/>
          </a:p>
        </p:txBody>
      </p:sp>
      <p:sp>
        <p:nvSpPr>
          <p:cNvPr id="6" name="Text 4"/>
          <p:cNvSpPr txBox="1"/>
          <p:nvPr/>
        </p:nvSpPr>
        <p:spPr>
          <a:xfrm>
            <a:off x="1005840" y="2907792"/>
            <a:ext cx="2752344" cy="777240"/>
          </a:xfrm>
          <a:prstGeom prst="rect">
            <a:avLst/>
          </a:prstGeom>
          <a:noFill/>
          <a:ln/>
        </p:spPr>
        <p:txBody>
          <a:bodyPr wrap="square" lIns="0" tIns="0" rIns="0" bIns="0" rtlCol="0" anchor="t"/>
          <a:lstStyle/>
          <a:p>
            <a:pPr indent="0" marL="0">
              <a:lnSpc>
                <a:spcPts val="1700"/>
              </a:lnSpc>
              <a:buNone/>
            </a:pPr>
            <a:r>
              <a:rPr lang="en-US" sz="1250" dirty="0">
                <a:solidFill>
                  <a:srgbClr val="E7ECF6"/>
                </a:solidFill>
                <a:latin typeface="Calibri" pitchFamily="34" charset="0"/>
                <a:ea typeface="Calibri" pitchFamily="34" charset="-122"/>
                <a:cs typeface="Calibri" pitchFamily="34" charset="-120"/>
              </a:rPr>
              <a:t>établissements de crédit agréés dans l'UEMOA à fin 2025</a:t>
            </a:r>
            <a:endParaRPr lang="en-US" sz="1250" dirty="0"/>
          </a:p>
        </p:txBody>
      </p:sp>
      <p:sp>
        <p:nvSpPr>
          <p:cNvPr id="7" name="Text 5"/>
          <p:cNvSpPr txBox="1"/>
          <p:nvPr/>
        </p:nvSpPr>
        <p:spPr>
          <a:xfrm>
            <a:off x="1005840" y="3767328"/>
            <a:ext cx="2752344" cy="274320"/>
          </a:xfrm>
          <a:prstGeom prst="rect">
            <a:avLst/>
          </a:prstGeom>
          <a:noFill/>
          <a:ln/>
        </p:spPr>
        <p:txBody>
          <a:bodyPr wrap="square" lIns="0" tIns="0" rIns="0" bIns="0" rtlCol="0" anchor="t"/>
          <a:lstStyle/>
          <a:p>
            <a:pPr indent="0" marL="0">
              <a:buNone/>
            </a:pPr>
            <a:r>
              <a:rPr lang="en-US" sz="950" dirty="0">
                <a:solidFill>
                  <a:srgbClr val="5B6A85"/>
                </a:solidFill>
                <a:latin typeface="Calibri" pitchFamily="34" charset="0"/>
                <a:ea typeface="Calibri" pitchFamily="34" charset="-122"/>
                <a:cs typeface="Calibri" pitchFamily="34" charset="-120"/>
              </a:rPr>
              <a:t>Source : BCEAO</a:t>
            </a:r>
            <a:endParaRPr lang="en-US" sz="950" dirty="0"/>
          </a:p>
        </p:txBody>
      </p:sp>
      <p:sp>
        <p:nvSpPr>
          <p:cNvPr id="8" name="Shape 6"/>
          <p:cNvSpPr/>
          <p:nvPr/>
        </p:nvSpPr>
        <p:spPr>
          <a:xfrm>
            <a:off x="4398264" y="1828800"/>
            <a:ext cx="3392424" cy="2331720"/>
          </a:xfrm>
          <a:prstGeom prst="roundRect">
            <a:avLst>
              <a:gd name="adj" fmla="val 3529"/>
            </a:avLst>
          </a:prstGeom>
          <a:solidFill>
            <a:srgbClr val="0E1523"/>
          </a:solidFill>
          <a:ln w="12700">
            <a:solidFill>
              <a:srgbClr val="1F2A40"/>
            </a:solidFill>
            <a:prstDash val="solid"/>
          </a:ln>
        </p:spPr>
      </p:sp>
      <p:sp>
        <p:nvSpPr>
          <p:cNvPr id="9" name="Text 7"/>
          <p:cNvSpPr txBox="1"/>
          <p:nvPr/>
        </p:nvSpPr>
        <p:spPr>
          <a:xfrm>
            <a:off x="4718304" y="2011680"/>
            <a:ext cx="2752344" cy="822960"/>
          </a:xfrm>
          <a:prstGeom prst="rect">
            <a:avLst/>
          </a:prstGeom>
          <a:noFill/>
          <a:ln/>
        </p:spPr>
        <p:txBody>
          <a:bodyPr wrap="square" lIns="0" tIns="0" rIns="0" bIns="0" rtlCol="0" anchor="t"/>
          <a:lstStyle/>
          <a:p>
            <a:pPr indent="0" marL="0">
              <a:buNone/>
            </a:pPr>
            <a:r>
              <a:rPr lang="en-US" sz="5400" b="1" dirty="0">
                <a:solidFill>
                  <a:srgbClr val="A78BFA"/>
                </a:solidFill>
                <a:latin typeface="Cambria" pitchFamily="34" charset="0"/>
                <a:ea typeface="Cambria" pitchFamily="34" charset="-122"/>
                <a:cs typeface="Cambria" pitchFamily="34" charset="-120"/>
              </a:rPr>
              <a:t>3</a:t>
            </a:r>
            <a:endParaRPr lang="en-US" sz="5400" dirty="0"/>
          </a:p>
        </p:txBody>
      </p:sp>
      <p:sp>
        <p:nvSpPr>
          <p:cNvPr id="10" name="Text 8"/>
          <p:cNvSpPr txBox="1"/>
          <p:nvPr/>
        </p:nvSpPr>
        <p:spPr>
          <a:xfrm>
            <a:off x="4718304" y="2907792"/>
            <a:ext cx="2752344" cy="777240"/>
          </a:xfrm>
          <a:prstGeom prst="rect">
            <a:avLst/>
          </a:prstGeom>
          <a:noFill/>
          <a:ln/>
        </p:spPr>
        <p:txBody>
          <a:bodyPr wrap="square" lIns="0" tIns="0" rIns="0" bIns="0" rtlCol="0" anchor="t"/>
          <a:lstStyle/>
          <a:p>
            <a:pPr indent="0" marL="0">
              <a:lnSpc>
                <a:spcPts val="1700"/>
              </a:lnSpc>
              <a:buNone/>
            </a:pPr>
            <a:r>
              <a:rPr lang="en-US" sz="1250" dirty="0">
                <a:solidFill>
                  <a:srgbClr val="E7ECF6"/>
                </a:solidFill>
                <a:latin typeface="Calibri" pitchFamily="34" charset="0"/>
                <a:ea typeface="Calibri" pitchFamily="34" charset="-122"/>
                <a:cs typeface="Calibri" pitchFamily="34" charset="-120"/>
              </a:rPr>
              <a:t>nouvelles instructions BCEAO LBC/FT en vigueur depuis le 18 mars 2025</a:t>
            </a:r>
            <a:endParaRPr lang="en-US" sz="1250" dirty="0"/>
          </a:p>
        </p:txBody>
      </p:sp>
      <p:sp>
        <p:nvSpPr>
          <p:cNvPr id="11" name="Text 9"/>
          <p:cNvSpPr txBox="1"/>
          <p:nvPr/>
        </p:nvSpPr>
        <p:spPr>
          <a:xfrm>
            <a:off x="4718304" y="3767328"/>
            <a:ext cx="2752344" cy="274320"/>
          </a:xfrm>
          <a:prstGeom prst="rect">
            <a:avLst/>
          </a:prstGeom>
          <a:noFill/>
          <a:ln/>
        </p:spPr>
        <p:txBody>
          <a:bodyPr wrap="square" lIns="0" tIns="0" rIns="0" bIns="0" rtlCol="0" anchor="t"/>
          <a:lstStyle/>
          <a:p>
            <a:pPr indent="0" marL="0">
              <a:buNone/>
            </a:pPr>
            <a:r>
              <a:rPr lang="en-US" sz="950" dirty="0">
                <a:solidFill>
                  <a:srgbClr val="5B6A85"/>
                </a:solidFill>
                <a:latin typeface="Calibri" pitchFamily="34" charset="0"/>
                <a:ea typeface="Calibri" pitchFamily="34" charset="-122"/>
                <a:cs typeface="Calibri" pitchFamily="34" charset="-120"/>
              </a:rPr>
              <a:t>Source : Instructions n°001 à 003-03-2025</a:t>
            </a:r>
            <a:endParaRPr lang="en-US" sz="950" dirty="0"/>
          </a:p>
        </p:txBody>
      </p:sp>
      <p:sp>
        <p:nvSpPr>
          <p:cNvPr id="12" name="Shape 10"/>
          <p:cNvSpPr/>
          <p:nvPr/>
        </p:nvSpPr>
        <p:spPr>
          <a:xfrm>
            <a:off x="8110728" y="1828800"/>
            <a:ext cx="3392424" cy="2331720"/>
          </a:xfrm>
          <a:prstGeom prst="roundRect">
            <a:avLst>
              <a:gd name="adj" fmla="val 3529"/>
            </a:avLst>
          </a:prstGeom>
          <a:solidFill>
            <a:srgbClr val="0E1523"/>
          </a:solidFill>
          <a:ln w="12700">
            <a:solidFill>
              <a:srgbClr val="1F2A40"/>
            </a:solidFill>
            <a:prstDash val="solid"/>
          </a:ln>
        </p:spPr>
      </p:sp>
      <p:sp>
        <p:nvSpPr>
          <p:cNvPr id="13" name="Text 11"/>
          <p:cNvSpPr txBox="1"/>
          <p:nvPr/>
        </p:nvSpPr>
        <p:spPr>
          <a:xfrm>
            <a:off x="8430768" y="2011680"/>
            <a:ext cx="2752344" cy="822960"/>
          </a:xfrm>
          <a:prstGeom prst="rect">
            <a:avLst/>
          </a:prstGeom>
          <a:noFill/>
          <a:ln/>
        </p:spPr>
        <p:txBody>
          <a:bodyPr wrap="square" lIns="0" tIns="0" rIns="0" bIns="0" rtlCol="0" anchor="t"/>
          <a:lstStyle/>
          <a:p>
            <a:pPr indent="0" marL="0">
              <a:buNone/>
            </a:pPr>
            <a:r>
              <a:rPr lang="en-US" sz="5400" b="1" dirty="0">
                <a:solidFill>
                  <a:srgbClr val="38BDF8"/>
                </a:solidFill>
                <a:latin typeface="Cambria" pitchFamily="34" charset="0"/>
                <a:ea typeface="Cambria" pitchFamily="34" charset="-122"/>
                <a:cs typeface="Cambria" pitchFamily="34" charset="-120"/>
              </a:rPr>
              <a:t>8</a:t>
            </a:r>
            <a:endParaRPr lang="en-US" sz="5400" dirty="0"/>
          </a:p>
        </p:txBody>
      </p:sp>
      <p:sp>
        <p:nvSpPr>
          <p:cNvPr id="14" name="Text 12"/>
          <p:cNvSpPr txBox="1"/>
          <p:nvPr/>
        </p:nvSpPr>
        <p:spPr>
          <a:xfrm>
            <a:off x="8430768" y="2907792"/>
            <a:ext cx="2752344" cy="777240"/>
          </a:xfrm>
          <a:prstGeom prst="rect">
            <a:avLst/>
          </a:prstGeom>
          <a:noFill/>
          <a:ln/>
        </p:spPr>
        <p:txBody>
          <a:bodyPr wrap="square" lIns="0" tIns="0" rIns="0" bIns="0" rtlCol="0" anchor="t"/>
          <a:lstStyle/>
          <a:p>
            <a:pPr indent="0" marL="0">
              <a:lnSpc>
                <a:spcPts val="1700"/>
              </a:lnSpc>
              <a:buNone/>
            </a:pPr>
            <a:r>
              <a:rPr lang="en-US" sz="1250" dirty="0">
                <a:solidFill>
                  <a:srgbClr val="E7ECF6"/>
                </a:solidFill>
                <a:latin typeface="Calibri" pitchFamily="34" charset="0"/>
                <a:ea typeface="Calibri" pitchFamily="34" charset="-122"/>
                <a:cs typeface="Calibri" pitchFamily="34" charset="-120"/>
              </a:rPr>
              <a:t>pays couverts par un cadre réglementaire unique</a:t>
            </a:r>
            <a:endParaRPr lang="en-US" sz="1250" dirty="0"/>
          </a:p>
        </p:txBody>
      </p:sp>
      <p:sp>
        <p:nvSpPr>
          <p:cNvPr id="15" name="Text 13"/>
          <p:cNvSpPr txBox="1"/>
          <p:nvPr/>
        </p:nvSpPr>
        <p:spPr>
          <a:xfrm>
            <a:off x="8430768" y="3767328"/>
            <a:ext cx="2752344" cy="274320"/>
          </a:xfrm>
          <a:prstGeom prst="rect">
            <a:avLst/>
          </a:prstGeom>
          <a:noFill/>
          <a:ln/>
        </p:spPr>
        <p:txBody>
          <a:bodyPr wrap="square" lIns="0" tIns="0" rIns="0" bIns="0" rtlCol="0" anchor="t"/>
          <a:lstStyle/>
          <a:p>
            <a:pPr indent="0" marL="0">
              <a:buNone/>
            </a:pPr>
            <a:r>
              <a:rPr lang="en-US" sz="950" dirty="0">
                <a:solidFill>
                  <a:srgbClr val="5B6A85"/>
                </a:solidFill>
                <a:latin typeface="Calibri" pitchFamily="34" charset="0"/>
                <a:ea typeface="Calibri" pitchFamily="34" charset="-122"/>
                <a:cs typeface="Calibri" pitchFamily="34" charset="-120"/>
              </a:rPr>
              <a:t>Source : Loi uniforme UEMOA, 31 mars 2023</a:t>
            </a:r>
            <a:endParaRPr lang="en-US" sz="950" dirty="0"/>
          </a:p>
        </p:txBody>
      </p:sp>
      <p:sp>
        <p:nvSpPr>
          <p:cNvPr id="16" name="Shape 14"/>
          <p:cNvSpPr/>
          <p:nvPr/>
        </p:nvSpPr>
        <p:spPr>
          <a:xfrm>
            <a:off x="685800" y="4526280"/>
            <a:ext cx="10817352" cy="1508760"/>
          </a:xfrm>
          <a:prstGeom prst="roundRect">
            <a:avLst>
              <a:gd name="adj" fmla="val 5455"/>
            </a:avLst>
          </a:prstGeom>
          <a:solidFill>
            <a:srgbClr val="131C2E"/>
          </a:solidFill>
          <a:ln w="12700">
            <a:solidFill>
              <a:srgbClr val="1F2A40"/>
            </a:solidFill>
            <a:prstDash val="solid"/>
          </a:ln>
        </p:spPr>
      </p:sp>
      <p:sp>
        <p:nvSpPr>
          <p:cNvPr id="17" name="Text 15"/>
          <p:cNvSpPr txBox="1"/>
          <p:nvPr/>
        </p:nvSpPr>
        <p:spPr>
          <a:xfrm>
            <a:off x="1097280" y="4754880"/>
            <a:ext cx="10058400" cy="457200"/>
          </a:xfrm>
          <a:prstGeom prst="rect">
            <a:avLst/>
          </a:prstGeom>
          <a:noFill/>
          <a:ln/>
        </p:spPr>
        <p:txBody>
          <a:bodyPr wrap="square" lIns="0" tIns="0" rIns="0" bIns="0" rtlCol="0" anchor="t"/>
          <a:lstStyle/>
          <a:p>
            <a:pPr indent="0" marL="0">
              <a:lnSpc>
                <a:spcPts val="2000"/>
              </a:lnSpc>
              <a:buNone/>
            </a:pPr>
            <a:r>
              <a:rPr lang="en-US" sz="1400" dirty="0">
                <a:solidFill>
                  <a:srgbClr val="E7ECF6"/>
                </a:solidFill>
                <a:latin typeface="Calibri" pitchFamily="34" charset="0"/>
                <a:ea typeface="Calibri" pitchFamily="34" charset="-122"/>
                <a:cs typeface="Calibri" pitchFamily="34" charset="-120"/>
              </a:rPr>
              <a:t>Les instructions du 18 mars 2025 ont relevé le niveau d'exigence sur l'identification du client, la connaissance du bénéficiaire effectif et le dispositif de contrôle interne.</a:t>
            </a:r>
            <a:endParaRPr lang="en-US" sz="1400" dirty="0"/>
          </a:p>
        </p:txBody>
      </p:sp>
      <p:sp>
        <p:nvSpPr>
          <p:cNvPr id="18" name="Text 16"/>
          <p:cNvSpPr txBox="1"/>
          <p:nvPr/>
        </p:nvSpPr>
        <p:spPr>
          <a:xfrm>
            <a:off x="1097280" y="5394960"/>
            <a:ext cx="10058400" cy="411480"/>
          </a:xfrm>
          <a:prstGeom prst="rect">
            <a:avLst/>
          </a:prstGeom>
          <a:noFill/>
          <a:ln/>
        </p:spPr>
        <p:txBody>
          <a:bodyPr wrap="square" lIns="0" tIns="0" rIns="0" bIns="0" rtlCol="0" anchor="t"/>
          <a:lstStyle/>
          <a:p>
            <a:pPr indent="0" marL="0">
              <a:buNone/>
            </a:pPr>
            <a:r>
              <a:rPr lang="en-US" sz="1250" dirty="0">
                <a:solidFill>
                  <a:srgbClr val="93A1BC"/>
                </a:solidFill>
                <a:latin typeface="Calibri" pitchFamily="34" charset="0"/>
                <a:ea typeface="Calibri" pitchFamily="34" charset="-122"/>
                <a:cs typeface="Calibri" pitchFamily="34" charset="-120"/>
              </a:rPr>
              <a:t>Le même cadre s'applique désormais aux huit pays de l'Union : ce qui est exigé à Dakar l'est aussi à Abidjan, Lomé ou Bamako.</a:t>
            </a:r>
            <a:endParaRPr lang="en-US" sz="1250" dirty="0"/>
          </a:p>
        </p:txBody>
      </p:sp>
      <p:sp>
        <p:nvSpPr>
          <p:cNvPr id="19" name="Text 17"/>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20" name="Text 18"/>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LE SIGNAL</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Un superviseur nettement plus ferme en 2025</a:t>
            </a:r>
            <a:endParaRPr lang="en-US" sz="3100" dirty="0"/>
          </a:p>
        </p:txBody>
      </p:sp>
      <p:sp>
        <p:nvSpPr>
          <p:cNvPr id="4" name="Text 2"/>
          <p:cNvSpPr txBox="1"/>
          <p:nvPr/>
        </p:nvSpPr>
        <p:spPr>
          <a:xfrm>
            <a:off x="685800" y="1783080"/>
            <a:ext cx="3749040" cy="1737360"/>
          </a:xfrm>
          <a:prstGeom prst="rect">
            <a:avLst/>
          </a:prstGeom>
          <a:noFill/>
          <a:ln/>
        </p:spPr>
        <p:txBody>
          <a:bodyPr wrap="square" lIns="0" tIns="0" rIns="0" bIns="0" rtlCol="0" anchor="t"/>
          <a:lstStyle/>
          <a:p>
            <a:pPr indent="0" marL="0">
              <a:lnSpc>
                <a:spcPts val="2000"/>
              </a:lnSpc>
              <a:buNone/>
            </a:pPr>
            <a:r>
              <a:rPr lang="en-US" sz="1300" dirty="0">
                <a:solidFill>
                  <a:srgbClr val="E7ECF6"/>
                </a:solidFill>
                <a:latin typeface="Calibri" pitchFamily="34" charset="0"/>
                <a:ea typeface="Calibri" pitchFamily="34" charset="-122"/>
                <a:cs typeface="Calibri" pitchFamily="34" charset="-120"/>
              </a:rPr>
              <a:t>Mesures prononcées par la Commission Bancaire de l'UMOA à l'encontre des établissements assujettis. Les injonctions ont doublé en un an, les sanctions pécuniaires ont progressé de 118 %.</a:t>
            </a:r>
            <a:endParaRPr lang="en-US" sz="1300" dirty="0"/>
          </a:p>
        </p:txBody>
      </p:sp>
      <p:sp>
        <p:nvSpPr>
          <p:cNvPr id="5" name="Shape 3"/>
          <p:cNvSpPr/>
          <p:nvPr/>
        </p:nvSpPr>
        <p:spPr>
          <a:xfrm>
            <a:off x="685800" y="3703320"/>
            <a:ext cx="3749040" cy="2011680"/>
          </a:xfrm>
          <a:prstGeom prst="roundRect">
            <a:avLst>
              <a:gd name="adj" fmla="val 4091"/>
            </a:avLst>
          </a:prstGeom>
          <a:solidFill>
            <a:srgbClr val="131C2E"/>
          </a:solidFill>
          <a:ln w="12700">
            <a:solidFill>
              <a:srgbClr val="1F2A40"/>
            </a:solidFill>
            <a:prstDash val="solid"/>
          </a:ln>
        </p:spPr>
      </p:sp>
      <p:sp>
        <p:nvSpPr>
          <p:cNvPr id="6" name="Text 4"/>
          <p:cNvSpPr txBox="1"/>
          <p:nvPr/>
        </p:nvSpPr>
        <p:spPr>
          <a:xfrm>
            <a:off x="978408" y="3950208"/>
            <a:ext cx="3163824" cy="1554480"/>
          </a:xfrm>
          <a:prstGeom prst="rect">
            <a:avLst/>
          </a:prstGeom>
          <a:noFill/>
          <a:ln/>
        </p:spPr>
        <p:txBody>
          <a:bodyPr wrap="square" lIns="0" tIns="0" rIns="0" bIns="0" rtlCol="0" anchor="t"/>
          <a:lstStyle/>
          <a:p>
            <a:pPr indent="0" marL="0">
              <a:lnSpc>
                <a:spcPts val="1800"/>
              </a:lnSpc>
              <a:buNone/>
            </a:pPr>
            <a:r>
              <a:rPr lang="en-US" sz="1200" dirty="0">
                <a:solidFill>
                  <a:srgbClr val="93A1BC"/>
                </a:solidFill>
                <a:latin typeface="Calibri" pitchFamily="34" charset="0"/>
                <a:ea typeface="Calibri" pitchFamily="34" charset="-122"/>
                <a:cs typeface="Calibri" pitchFamily="34" charset="-120"/>
              </a:rPr>
              <a:t>Motifs récurrents : dispositif LBC/FT non conforme, contrôle interne défaillant, gouvernance insuffisante.</a:t>
            </a:r>
            <a:endParaRPr lang="en-US" sz="1200" dirty="0"/>
          </a:p>
        </p:txBody>
      </p:sp>
      <p:graphicFrame>
        <p:nvGraphicFramePr>
          <p:cNvPr id="7" name="Chart 0" descr=""/>
          <p:cNvGraphicFramePr/>
          <p:nvPr/>
        </p:nvGraphicFramePr>
        <p:xfrm>
          <a:off x="4709160" y="1691640"/>
          <a:ext cx="6812280" cy="4114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09160" y="5870448"/>
            <a:ext cx="6812280" cy="274320"/>
          </a:xfrm>
          <a:prstGeom prst="rect">
            <a:avLst/>
          </a:prstGeom>
          <a:noFill/>
          <a:ln/>
        </p:spPr>
        <p:txBody>
          <a:bodyPr wrap="square" lIns="0" tIns="0" rIns="0" bIns="0" rtlCol="0" anchor="t"/>
          <a:lstStyle/>
          <a:p>
            <a:pPr indent="0" marL="0">
              <a:buNone/>
            </a:pPr>
            <a:r>
              <a:rPr lang="en-US" sz="950" dirty="0">
                <a:solidFill>
                  <a:srgbClr val="5B6A85"/>
                </a:solidFill>
                <a:latin typeface="Calibri" pitchFamily="34" charset="0"/>
                <a:ea typeface="Calibri" pitchFamily="34" charset="-122"/>
                <a:cs typeface="Calibri" pitchFamily="34" charset="-120"/>
              </a:rPr>
              <a:t>Source : Commission Bancaire de l'UMOA, mesures 2024 et 2025.</a:t>
            </a:r>
            <a:endParaRPr lang="en-US" sz="950" dirty="0"/>
          </a:p>
        </p:txBody>
      </p:sp>
      <p:sp>
        <p:nvSpPr>
          <p:cNvPr id="9" name="Text 6"/>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10" name="Text 7"/>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LE CONSTAT</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Le problème n'est pas le manque de règles</a:t>
            </a:r>
            <a:endParaRPr lang="en-US" sz="3100" dirty="0"/>
          </a:p>
        </p:txBody>
      </p:sp>
      <p:sp>
        <p:nvSpPr>
          <p:cNvPr id="4" name="Text 2"/>
          <p:cNvSpPr txBox="1"/>
          <p:nvPr/>
        </p:nvSpPr>
        <p:spPr>
          <a:xfrm>
            <a:off x="685800" y="1335024"/>
            <a:ext cx="9692640" cy="365760"/>
          </a:xfrm>
          <a:prstGeom prst="rect">
            <a:avLst/>
          </a:prstGeom>
          <a:noFill/>
          <a:ln/>
        </p:spPr>
        <p:txBody>
          <a:bodyPr wrap="square" lIns="0" tIns="0" rIns="0" bIns="0" rtlCol="0" anchor="t"/>
          <a:lstStyle/>
          <a:p>
            <a:pPr indent="0" marL="0">
              <a:buNone/>
            </a:pPr>
            <a:r>
              <a:rPr lang="en-US" sz="1350" dirty="0">
                <a:solidFill>
                  <a:srgbClr val="93A1BC"/>
                </a:solidFill>
                <a:latin typeface="Calibri" pitchFamily="34" charset="0"/>
                <a:ea typeface="Calibri" pitchFamily="34" charset="-122"/>
                <a:cs typeface="Calibri" pitchFamily="34" charset="-120"/>
              </a:rPr>
              <a:t>Ce que nous relevons dans presque tous les référentiels clients que nous auditons.</a:t>
            </a:r>
            <a:endParaRPr lang="en-US" sz="1350" dirty="0"/>
          </a:p>
        </p:txBody>
      </p:sp>
      <p:sp>
        <p:nvSpPr>
          <p:cNvPr id="5" name="Shape 3"/>
          <p:cNvSpPr/>
          <p:nvPr/>
        </p:nvSpPr>
        <p:spPr>
          <a:xfrm>
            <a:off x="685800" y="2011680"/>
            <a:ext cx="5257800" cy="1874520"/>
          </a:xfrm>
          <a:prstGeom prst="roundRect">
            <a:avLst>
              <a:gd name="adj" fmla="val 4390"/>
            </a:avLst>
          </a:prstGeom>
          <a:solidFill>
            <a:srgbClr val="0E1523"/>
          </a:solidFill>
          <a:ln w="12700">
            <a:solidFill>
              <a:srgbClr val="1F2A40"/>
            </a:solidFill>
            <a:prstDash val="solid"/>
          </a:ln>
        </p:spPr>
      </p:sp>
      <p:sp>
        <p:nvSpPr>
          <p:cNvPr id="6" name="Shape 4"/>
          <p:cNvSpPr/>
          <p:nvPr/>
        </p:nvSpPr>
        <p:spPr>
          <a:xfrm>
            <a:off x="1005840" y="2304288"/>
            <a:ext cx="566928" cy="566928"/>
          </a:xfrm>
          <a:prstGeom prst="roundRect">
            <a:avLst>
              <a:gd name="adj" fmla="val 45161"/>
            </a:avLst>
          </a:prstGeom>
          <a:solidFill>
            <a:srgbClr val="38BDF8">
              <a:alpha val="16000"/>
            </a:srgbClr>
          </a:solidFill>
          <a:ln w="12700">
            <a:solidFill>
              <a:srgbClr val="38BDF8">
                <a:alpha val="40000"/>
              </a:srgbClr>
            </a:solidFill>
            <a:prstDash val="solid"/>
          </a:ln>
        </p:spPr>
      </p:sp>
      <p:pic>
        <p:nvPicPr>
          <p:cNvPr id="7" name="Image 0" descr="preencoded.png">    </p:cNvPr>
          <p:cNvPicPr>
            <a:picLocks noChangeAspect="1"/>
          </p:cNvPicPr>
          <p:nvPr/>
        </p:nvPicPr>
        <p:blipFill>
          <a:blip r:embed="rId1"/>
          <a:stretch>
            <a:fillRect/>
          </a:stretch>
        </p:blipFill>
        <p:spPr>
          <a:xfrm>
            <a:off x="1136233" y="2434681"/>
            <a:ext cx="306141" cy="306141"/>
          </a:xfrm>
          <a:prstGeom prst="rect">
            <a:avLst/>
          </a:prstGeom>
        </p:spPr>
      </p:pic>
      <p:sp>
        <p:nvSpPr>
          <p:cNvPr id="8" name="Text 5"/>
          <p:cNvSpPr txBox="1"/>
          <p:nvPr/>
        </p:nvSpPr>
        <p:spPr>
          <a:xfrm>
            <a:off x="1737360" y="2304288"/>
            <a:ext cx="3886200" cy="502920"/>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Des dossiers KYC incomplets</a:t>
            </a:r>
            <a:endParaRPr lang="en-US" sz="1500" dirty="0"/>
          </a:p>
        </p:txBody>
      </p:sp>
      <p:sp>
        <p:nvSpPr>
          <p:cNvPr id="9" name="Text 6"/>
          <p:cNvSpPr txBox="1"/>
          <p:nvPr/>
        </p:nvSpPr>
        <p:spPr>
          <a:xfrm>
            <a:off x="1737360" y="2880360"/>
            <a:ext cx="3886200" cy="91440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Pièces expirées, professions non renseignées, bénéficiaires effectifs absents. Personne ne sait chiffrer le taux de complétude.</a:t>
            </a:r>
            <a:endParaRPr lang="en-US" sz="1200" dirty="0"/>
          </a:p>
        </p:txBody>
      </p:sp>
      <p:sp>
        <p:nvSpPr>
          <p:cNvPr id="10" name="Shape 7"/>
          <p:cNvSpPr/>
          <p:nvPr/>
        </p:nvSpPr>
        <p:spPr>
          <a:xfrm>
            <a:off x="6245352" y="2011680"/>
            <a:ext cx="5257800" cy="1874520"/>
          </a:xfrm>
          <a:prstGeom prst="roundRect">
            <a:avLst>
              <a:gd name="adj" fmla="val 4390"/>
            </a:avLst>
          </a:prstGeom>
          <a:solidFill>
            <a:srgbClr val="0E1523"/>
          </a:solidFill>
          <a:ln w="12700">
            <a:solidFill>
              <a:srgbClr val="1F2A40"/>
            </a:solidFill>
            <a:prstDash val="solid"/>
          </a:ln>
        </p:spPr>
      </p:sp>
      <p:sp>
        <p:nvSpPr>
          <p:cNvPr id="11" name="Shape 8"/>
          <p:cNvSpPr/>
          <p:nvPr/>
        </p:nvSpPr>
        <p:spPr>
          <a:xfrm>
            <a:off x="6565392" y="2304288"/>
            <a:ext cx="566928" cy="566928"/>
          </a:xfrm>
          <a:prstGeom prst="roundRect">
            <a:avLst>
              <a:gd name="adj" fmla="val 45161"/>
            </a:avLst>
          </a:prstGeom>
          <a:solidFill>
            <a:srgbClr val="38BDF8">
              <a:alpha val="16000"/>
            </a:srgbClr>
          </a:solidFill>
          <a:ln w="12700">
            <a:solidFill>
              <a:srgbClr val="38BDF8">
                <a:alpha val="40000"/>
              </a:srgbClr>
            </a:solidFill>
            <a:prstDash val="solid"/>
          </a:ln>
        </p:spPr>
      </p:sp>
      <p:pic>
        <p:nvPicPr>
          <p:cNvPr id="12" name="Image 1" descr="preencoded.png">    </p:cNvPr>
          <p:cNvPicPr>
            <a:picLocks noChangeAspect="1"/>
          </p:cNvPicPr>
          <p:nvPr/>
        </p:nvPicPr>
        <p:blipFill>
          <a:blip r:embed="rId2"/>
          <a:stretch>
            <a:fillRect/>
          </a:stretch>
        </p:blipFill>
        <p:spPr>
          <a:xfrm>
            <a:off x="6695785" y="2434681"/>
            <a:ext cx="306141" cy="306141"/>
          </a:xfrm>
          <a:prstGeom prst="rect">
            <a:avLst/>
          </a:prstGeom>
        </p:spPr>
      </p:pic>
      <p:sp>
        <p:nvSpPr>
          <p:cNvPr id="13" name="Text 9"/>
          <p:cNvSpPr txBox="1"/>
          <p:nvPr/>
        </p:nvSpPr>
        <p:spPr>
          <a:xfrm>
            <a:off x="7296912" y="2304288"/>
            <a:ext cx="3886200" cy="502920"/>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Des doublons clients invisibles</a:t>
            </a:r>
            <a:endParaRPr lang="en-US" sz="1500" dirty="0"/>
          </a:p>
        </p:txBody>
      </p:sp>
      <p:sp>
        <p:nvSpPr>
          <p:cNvPr id="14" name="Text 10"/>
          <p:cNvSpPr txBox="1"/>
          <p:nvPr/>
        </p:nvSpPr>
        <p:spPr>
          <a:xfrm>
            <a:off x="7296912" y="2880360"/>
            <a:ext cx="3886200" cy="91440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Le même client existe sous trois identités dans le core banking : risque sous-évalué et seuils contournés sans intention.</a:t>
            </a:r>
            <a:endParaRPr lang="en-US" sz="1200" dirty="0"/>
          </a:p>
        </p:txBody>
      </p:sp>
      <p:sp>
        <p:nvSpPr>
          <p:cNvPr id="15" name="Shape 11"/>
          <p:cNvSpPr/>
          <p:nvPr/>
        </p:nvSpPr>
        <p:spPr>
          <a:xfrm>
            <a:off x="685800" y="4187952"/>
            <a:ext cx="5257800" cy="1874520"/>
          </a:xfrm>
          <a:prstGeom prst="roundRect">
            <a:avLst>
              <a:gd name="adj" fmla="val 4390"/>
            </a:avLst>
          </a:prstGeom>
          <a:solidFill>
            <a:srgbClr val="0E1523"/>
          </a:solidFill>
          <a:ln w="12700">
            <a:solidFill>
              <a:srgbClr val="1F2A40"/>
            </a:solidFill>
            <a:prstDash val="solid"/>
          </a:ln>
        </p:spPr>
      </p:sp>
      <p:sp>
        <p:nvSpPr>
          <p:cNvPr id="16" name="Shape 12"/>
          <p:cNvSpPr/>
          <p:nvPr/>
        </p:nvSpPr>
        <p:spPr>
          <a:xfrm>
            <a:off x="1005840" y="4480560"/>
            <a:ext cx="566928" cy="566928"/>
          </a:xfrm>
          <a:prstGeom prst="roundRect">
            <a:avLst>
              <a:gd name="adj" fmla="val 45161"/>
            </a:avLst>
          </a:prstGeom>
          <a:solidFill>
            <a:srgbClr val="F87171">
              <a:alpha val="16000"/>
            </a:srgbClr>
          </a:solidFill>
          <a:ln w="12700">
            <a:solidFill>
              <a:srgbClr val="F87171">
                <a:alpha val="40000"/>
              </a:srgbClr>
            </a:solidFill>
            <a:prstDash val="solid"/>
          </a:ln>
        </p:spPr>
      </p:sp>
      <p:pic>
        <p:nvPicPr>
          <p:cNvPr id="17" name="Image 2" descr="preencoded.png">    </p:cNvPr>
          <p:cNvPicPr>
            <a:picLocks noChangeAspect="1"/>
          </p:cNvPicPr>
          <p:nvPr/>
        </p:nvPicPr>
        <p:blipFill>
          <a:blip r:embed="rId3"/>
          <a:stretch>
            <a:fillRect/>
          </a:stretch>
        </p:blipFill>
        <p:spPr>
          <a:xfrm>
            <a:off x="1136233" y="4610953"/>
            <a:ext cx="306141" cy="306141"/>
          </a:xfrm>
          <a:prstGeom prst="rect">
            <a:avLst/>
          </a:prstGeom>
        </p:spPr>
      </p:pic>
      <p:sp>
        <p:nvSpPr>
          <p:cNvPr id="18" name="Text 13"/>
          <p:cNvSpPr txBox="1"/>
          <p:nvPr/>
        </p:nvSpPr>
        <p:spPr>
          <a:xfrm>
            <a:off x="1737360" y="4480560"/>
            <a:ext cx="3886200" cy="502920"/>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Des alertes ingérables</a:t>
            </a:r>
            <a:endParaRPr lang="en-US" sz="1500" dirty="0"/>
          </a:p>
        </p:txBody>
      </p:sp>
      <p:sp>
        <p:nvSpPr>
          <p:cNvPr id="19" name="Text 14"/>
          <p:cNvSpPr txBox="1"/>
          <p:nvPr/>
        </p:nvSpPr>
        <p:spPr>
          <a:xfrm>
            <a:off x="1737360" y="5056632"/>
            <a:ext cx="3886200" cy="91440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Un paramétrage par seuils fixes produit des milliers d'alertes par mois, dont plus de 95 % de faux positifs.</a:t>
            </a:r>
            <a:endParaRPr lang="en-US" sz="1200" dirty="0"/>
          </a:p>
        </p:txBody>
      </p:sp>
      <p:sp>
        <p:nvSpPr>
          <p:cNvPr id="20" name="Shape 15"/>
          <p:cNvSpPr/>
          <p:nvPr/>
        </p:nvSpPr>
        <p:spPr>
          <a:xfrm>
            <a:off x="6245352" y="4187952"/>
            <a:ext cx="5257800" cy="1874520"/>
          </a:xfrm>
          <a:prstGeom prst="roundRect">
            <a:avLst>
              <a:gd name="adj" fmla="val 4390"/>
            </a:avLst>
          </a:prstGeom>
          <a:solidFill>
            <a:srgbClr val="0E1523"/>
          </a:solidFill>
          <a:ln w="12700">
            <a:solidFill>
              <a:srgbClr val="1F2A40"/>
            </a:solidFill>
            <a:prstDash val="solid"/>
          </a:ln>
        </p:spPr>
      </p:sp>
      <p:sp>
        <p:nvSpPr>
          <p:cNvPr id="21" name="Shape 16"/>
          <p:cNvSpPr/>
          <p:nvPr/>
        </p:nvSpPr>
        <p:spPr>
          <a:xfrm>
            <a:off x="6565392" y="4480560"/>
            <a:ext cx="566928" cy="566928"/>
          </a:xfrm>
          <a:prstGeom prst="roundRect">
            <a:avLst>
              <a:gd name="adj" fmla="val 45161"/>
            </a:avLst>
          </a:prstGeom>
          <a:solidFill>
            <a:srgbClr val="38BDF8">
              <a:alpha val="16000"/>
            </a:srgbClr>
          </a:solidFill>
          <a:ln w="12700">
            <a:solidFill>
              <a:srgbClr val="38BDF8">
                <a:alpha val="40000"/>
              </a:srgbClr>
            </a:solidFill>
            <a:prstDash val="solid"/>
          </a:ln>
        </p:spPr>
      </p:sp>
      <p:pic>
        <p:nvPicPr>
          <p:cNvPr id="22" name="Image 3" descr="preencoded.png">    </p:cNvPr>
          <p:cNvPicPr>
            <a:picLocks noChangeAspect="1"/>
          </p:cNvPicPr>
          <p:nvPr/>
        </p:nvPicPr>
        <p:blipFill>
          <a:blip r:embed="rId4"/>
          <a:stretch>
            <a:fillRect/>
          </a:stretch>
        </p:blipFill>
        <p:spPr>
          <a:xfrm>
            <a:off x="6695785" y="4610953"/>
            <a:ext cx="306141" cy="306141"/>
          </a:xfrm>
          <a:prstGeom prst="rect">
            <a:avLst/>
          </a:prstGeom>
        </p:spPr>
      </p:pic>
      <p:sp>
        <p:nvSpPr>
          <p:cNvPr id="23" name="Text 17"/>
          <p:cNvSpPr txBox="1"/>
          <p:nvPr/>
        </p:nvSpPr>
        <p:spPr>
          <a:xfrm>
            <a:off x="7296912" y="4480560"/>
            <a:ext cx="3886200" cy="502920"/>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Des contrôles non traçables</a:t>
            </a:r>
            <a:endParaRPr lang="en-US" sz="1500" dirty="0"/>
          </a:p>
        </p:txBody>
      </p:sp>
      <p:sp>
        <p:nvSpPr>
          <p:cNvPr id="24" name="Text 18"/>
          <p:cNvSpPr txBox="1"/>
          <p:nvPr/>
        </p:nvSpPr>
        <p:spPr>
          <a:xfrm>
            <a:off x="7296912" y="5056632"/>
            <a:ext cx="3886200" cy="91440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Le contrôle permanent s'exécute dans des classeurs non versionnés. À l'inspection, la preuve devient un exercice périlleux.</a:t>
            </a:r>
            <a:endParaRPr lang="en-US" sz="1200" dirty="0"/>
          </a:p>
        </p:txBody>
      </p:sp>
      <p:sp>
        <p:nvSpPr>
          <p:cNvPr id="25" name="Text 19"/>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26" name="Text 20"/>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80F"/>
        </a:solidFill>
      </p:bgPr>
    </p:bg>
    <p:spTree>
      <p:nvGrpSpPr>
        <p:cNvPr id="1" name=""/>
        <p:cNvGrpSpPr/>
        <p:nvPr/>
      </p:nvGrpSpPr>
      <p:grpSpPr>
        <a:xfrm>
          <a:off x="0" y="0"/>
          <a:ext cx="0" cy="0"/>
          <a:chOff x="0" y="0"/>
          <a:chExt cx="0" cy="0"/>
        </a:xfrm>
      </p:grpSpPr>
      <p:sp>
        <p:nvSpPr>
          <p:cNvPr id="2" name="Shape 0"/>
          <p:cNvSpPr/>
          <p:nvPr/>
        </p:nvSpPr>
        <p:spPr>
          <a:xfrm>
            <a:off x="7498080" y="822960"/>
            <a:ext cx="5486400" cy="5120640"/>
          </a:xfrm>
          <a:prstGeom prst="ellipse">
            <a:avLst/>
          </a:prstGeom>
          <a:solidFill>
            <a:srgbClr val="A78BFA">
              <a:alpha val="14000"/>
            </a:srgbClr>
          </a:solidFill>
          <a:ln w="12700">
            <a:solidFill>
              <a:srgbClr val="A78BFA">
                <a:alpha val="0"/>
              </a:srgbClr>
            </a:solidFill>
            <a:prstDash val="solid"/>
          </a:ln>
        </p:spPr>
      </p:sp>
      <p:sp>
        <p:nvSpPr>
          <p:cNvPr id="3" name="Text 1"/>
          <p:cNvSpPr txBox="1"/>
          <p:nvPr/>
        </p:nvSpPr>
        <p:spPr>
          <a:xfrm>
            <a:off x="685800" y="822960"/>
            <a:ext cx="5486400" cy="274320"/>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Le module</a:t>
            </a:r>
            <a:endParaRPr lang="en-US" sz="1100" dirty="0"/>
          </a:p>
        </p:txBody>
      </p:sp>
      <p:sp>
        <p:nvSpPr>
          <p:cNvPr id="4" name="Text 2"/>
          <p:cNvSpPr txBox="1"/>
          <p:nvPr/>
        </p:nvSpPr>
        <p:spPr>
          <a:xfrm>
            <a:off x="685800" y="1143000"/>
            <a:ext cx="658368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Konformix Vigil</a:t>
            </a:r>
            <a:endParaRPr lang="en-US" sz="4000" dirty="0"/>
          </a:p>
        </p:txBody>
      </p:sp>
      <p:sp>
        <p:nvSpPr>
          <p:cNvPr id="5" name="Text 3"/>
          <p:cNvSpPr txBox="1"/>
          <p:nvPr/>
        </p:nvSpPr>
        <p:spPr>
          <a:xfrm>
            <a:off x="685800" y="2011680"/>
            <a:ext cx="6400800" cy="365760"/>
          </a:xfrm>
          <a:prstGeom prst="rect">
            <a:avLst/>
          </a:prstGeom>
          <a:noFill/>
          <a:ln/>
        </p:spPr>
        <p:txBody>
          <a:bodyPr wrap="square" lIns="0" tIns="0" rIns="0" bIns="0" rtlCol="0" anchor="t"/>
          <a:lstStyle/>
          <a:p>
            <a:pPr indent="0" marL="0">
              <a:buNone/>
            </a:pPr>
            <a:r>
              <a:rPr lang="en-US" sz="1500" dirty="0">
                <a:solidFill>
                  <a:srgbClr val="7DD3FC"/>
                </a:solidFill>
                <a:latin typeface="Calibri" pitchFamily="34" charset="0"/>
                <a:ea typeface="Calibri" pitchFamily="34" charset="-122"/>
                <a:cs typeface="Calibri" pitchFamily="34" charset="-120"/>
              </a:rPr>
              <a:t>Profilage des clients et surveillance des transactions</a:t>
            </a:r>
            <a:endParaRPr lang="en-US" sz="1500" dirty="0"/>
          </a:p>
        </p:txBody>
      </p:sp>
      <p:sp>
        <p:nvSpPr>
          <p:cNvPr id="6" name="Text 4"/>
          <p:cNvSpPr txBox="1"/>
          <p:nvPr/>
        </p:nvSpPr>
        <p:spPr>
          <a:xfrm>
            <a:off x="685800" y="2606040"/>
            <a:ext cx="6400800" cy="1188720"/>
          </a:xfrm>
          <a:prstGeom prst="rect">
            <a:avLst/>
          </a:prstGeom>
          <a:noFill/>
          <a:ln/>
        </p:spPr>
        <p:txBody>
          <a:bodyPr wrap="square" lIns="0" tIns="0" rIns="0" bIns="0" rtlCol="0" anchor="t"/>
          <a:lstStyle/>
          <a:p>
            <a:pPr indent="0" marL="0">
              <a:lnSpc>
                <a:spcPts val="2300"/>
              </a:lnSpc>
              <a:buNone/>
            </a:pPr>
            <a:r>
              <a:rPr lang="en-US" sz="1500" dirty="0">
                <a:solidFill>
                  <a:srgbClr val="93A1BC"/>
                </a:solidFill>
                <a:latin typeface="Calibri" pitchFamily="34" charset="0"/>
                <a:ea typeface="Calibri" pitchFamily="34" charset="-122"/>
                <a:cs typeface="Calibri" pitchFamily="34" charset="-120"/>
              </a:rPr>
              <a:t>Classe les clients par niveau de risque, apprend leur comportement normal et n'alerte que sur les écarts qui méritent un examen humain.</a:t>
            </a:r>
            <a:endParaRPr lang="en-US" sz="1500" dirty="0"/>
          </a:p>
        </p:txBody>
      </p:sp>
      <p:sp>
        <p:nvSpPr>
          <p:cNvPr id="7" name="Shape 5"/>
          <p:cNvSpPr/>
          <p:nvPr/>
        </p:nvSpPr>
        <p:spPr>
          <a:xfrm>
            <a:off x="685800" y="3977640"/>
            <a:ext cx="6400800" cy="1417320"/>
          </a:xfrm>
          <a:prstGeom prst="roundRect">
            <a:avLst>
              <a:gd name="adj" fmla="val 5806"/>
            </a:avLst>
          </a:prstGeom>
          <a:solidFill>
            <a:srgbClr val="0E1523"/>
          </a:solidFill>
          <a:ln w="12700">
            <a:solidFill>
              <a:srgbClr val="34D399"/>
            </a:solidFill>
            <a:prstDash val="solid"/>
          </a:ln>
        </p:spPr>
      </p:sp>
      <p:sp>
        <p:nvSpPr>
          <p:cNvPr id="8" name="Text 6"/>
          <p:cNvSpPr txBox="1"/>
          <p:nvPr/>
        </p:nvSpPr>
        <p:spPr>
          <a:xfrm>
            <a:off x="1051560" y="4206240"/>
            <a:ext cx="5669280" cy="256032"/>
          </a:xfrm>
          <a:prstGeom prst="rect">
            <a:avLst/>
          </a:prstGeom>
          <a:noFill/>
          <a:ln/>
        </p:spPr>
        <p:txBody>
          <a:bodyPr wrap="square" lIns="0" tIns="0" rIns="0" bIns="0" rtlCol="0" anchor="t"/>
          <a:lstStyle/>
          <a:p>
            <a:pPr indent="0" marL="0">
              <a:buNone/>
            </a:pPr>
            <a:r>
              <a:rPr lang="en-US" sz="1050" b="1" spc="140" kern="0" dirty="0">
                <a:solidFill>
                  <a:srgbClr val="34D399"/>
                </a:solidFill>
                <a:latin typeface="Calibri" pitchFamily="34" charset="0"/>
                <a:ea typeface="Calibri" pitchFamily="34" charset="-122"/>
                <a:cs typeface="Calibri" pitchFamily="34" charset="-120"/>
              </a:rPr>
              <a:t>RÉSULTAT VISÉ</a:t>
            </a:r>
            <a:endParaRPr lang="en-US" sz="1050" dirty="0"/>
          </a:p>
        </p:txBody>
      </p:sp>
      <p:sp>
        <p:nvSpPr>
          <p:cNvPr id="9" name="Text 7"/>
          <p:cNvSpPr txBox="1"/>
          <p:nvPr/>
        </p:nvSpPr>
        <p:spPr>
          <a:xfrm>
            <a:off x="1051560" y="4526280"/>
            <a:ext cx="5669280" cy="731520"/>
          </a:xfrm>
          <a:prstGeom prst="rect">
            <a:avLst/>
          </a:prstGeom>
          <a:noFill/>
          <a:ln/>
        </p:spPr>
        <p:txBody>
          <a:bodyPr wrap="square" lIns="0" tIns="0" rIns="0" bIns="0" rtlCol="0" anchor="t"/>
          <a:lstStyle/>
          <a:p>
            <a:pPr indent="0" marL="0">
              <a:lnSpc>
                <a:spcPts val="2100"/>
              </a:lnSpc>
              <a:buNone/>
            </a:pPr>
            <a:r>
              <a:rPr lang="en-US" sz="1500" dirty="0">
                <a:solidFill>
                  <a:srgbClr val="E7ECF6"/>
                </a:solidFill>
                <a:latin typeface="Calibri" pitchFamily="34" charset="0"/>
                <a:ea typeface="Calibri" pitchFamily="34" charset="-122"/>
                <a:cs typeface="Calibri" pitchFamily="34" charset="-120"/>
              </a:rPr>
              <a:t>Réduire le volume d'alertes tout en augmentant le taux de déclarations de soupçon pertinentes.</a:t>
            </a:r>
            <a:endParaRPr lang="en-US" sz="1500" dirty="0"/>
          </a:p>
        </p:txBody>
      </p:sp>
      <p:sp>
        <p:nvSpPr>
          <p:cNvPr id="10" name="Shape 8"/>
          <p:cNvSpPr/>
          <p:nvPr/>
        </p:nvSpPr>
        <p:spPr>
          <a:xfrm>
            <a:off x="8138160" y="2011680"/>
            <a:ext cx="2743200" cy="2743200"/>
          </a:xfrm>
          <a:prstGeom prst="roundRect">
            <a:avLst>
              <a:gd name="adj" fmla="val 9333"/>
            </a:avLst>
          </a:prstGeom>
          <a:solidFill>
            <a:srgbClr val="A78BFA">
              <a:alpha val="16000"/>
            </a:srgbClr>
          </a:solidFill>
          <a:ln w="12700">
            <a:solidFill>
              <a:srgbClr val="A78BFA">
                <a:alpha val="40000"/>
              </a:srgbClr>
            </a:solidFill>
            <a:prstDash val="solid"/>
          </a:ln>
        </p:spPr>
      </p:sp>
      <p:pic>
        <p:nvPicPr>
          <p:cNvPr id="11" name="Image 0" descr="preencoded.png">    </p:cNvPr>
          <p:cNvPicPr>
            <a:picLocks noChangeAspect="1"/>
          </p:cNvPicPr>
          <p:nvPr/>
        </p:nvPicPr>
        <p:blipFill>
          <a:blip r:embed="rId1"/>
          <a:stretch>
            <a:fillRect/>
          </a:stretch>
        </p:blipFill>
        <p:spPr>
          <a:xfrm>
            <a:off x="8769096" y="2642616"/>
            <a:ext cx="1481328" cy="1481328"/>
          </a:xfrm>
          <a:prstGeom prst="rect">
            <a:avLst/>
          </a:prstGeom>
        </p:spPr>
      </p:pic>
      <p:sp>
        <p:nvSpPr>
          <p:cNvPr id="12" name="Text 9"/>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13" name="Text 10"/>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FONCTIONNALITÉS</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Ce que fait Konformix Vigil</a:t>
            </a:r>
            <a:endParaRPr lang="en-US" sz="3100" dirty="0"/>
          </a:p>
        </p:txBody>
      </p:sp>
      <p:sp>
        <p:nvSpPr>
          <p:cNvPr id="4" name="Shape 2"/>
          <p:cNvSpPr/>
          <p:nvPr/>
        </p:nvSpPr>
        <p:spPr>
          <a:xfrm>
            <a:off x="685800" y="1664208"/>
            <a:ext cx="3392424" cy="2148840"/>
          </a:xfrm>
          <a:prstGeom prst="roundRect">
            <a:avLst>
              <a:gd name="adj" fmla="val 3830"/>
            </a:avLst>
          </a:prstGeom>
          <a:solidFill>
            <a:srgbClr val="0E1523"/>
          </a:solidFill>
          <a:ln w="12700">
            <a:solidFill>
              <a:srgbClr val="1F2A40"/>
            </a:solidFill>
            <a:prstDash val="solid"/>
          </a:ln>
        </p:spPr>
      </p:sp>
      <p:sp>
        <p:nvSpPr>
          <p:cNvPr id="5" name="Shape 3"/>
          <p:cNvSpPr/>
          <p:nvPr/>
        </p:nvSpPr>
        <p:spPr>
          <a:xfrm>
            <a:off x="978408" y="1883664"/>
            <a:ext cx="502920" cy="502920"/>
          </a:xfrm>
          <a:prstGeom prst="roundRect">
            <a:avLst>
              <a:gd name="adj" fmla="val 50909"/>
            </a:avLst>
          </a:prstGeom>
          <a:solidFill>
            <a:srgbClr val="38BDF8">
              <a:alpha val="16000"/>
            </a:srgbClr>
          </a:solidFill>
          <a:ln w="12700">
            <a:solidFill>
              <a:srgbClr val="38BDF8">
                <a:alpha val="40000"/>
              </a:srgbClr>
            </a:solidFill>
            <a:prstDash val="solid"/>
          </a:ln>
        </p:spPr>
      </p:sp>
      <p:pic>
        <p:nvPicPr>
          <p:cNvPr id="6" name="Image 0" descr="preencoded.png">    </p:cNvPr>
          <p:cNvPicPr>
            <a:picLocks noChangeAspect="1"/>
          </p:cNvPicPr>
          <p:nvPr/>
        </p:nvPicPr>
        <p:blipFill>
          <a:blip r:embed="rId1"/>
          <a:stretch>
            <a:fillRect/>
          </a:stretch>
        </p:blipFill>
        <p:spPr>
          <a:xfrm>
            <a:off x="1094080" y="1999336"/>
            <a:ext cx="271577" cy="271577"/>
          </a:xfrm>
          <a:prstGeom prst="rect">
            <a:avLst/>
          </a:prstGeom>
        </p:spPr>
      </p:pic>
      <p:sp>
        <p:nvSpPr>
          <p:cNvPr id="7" name="Text 4"/>
          <p:cNvSpPr txBox="1"/>
          <p:nvPr/>
        </p:nvSpPr>
        <p:spPr>
          <a:xfrm>
            <a:off x="978408" y="2468880"/>
            <a:ext cx="2807208" cy="438912"/>
          </a:xfrm>
          <a:prstGeom prst="rect">
            <a:avLst/>
          </a:prstGeom>
          <a:noFill/>
          <a:ln/>
        </p:spPr>
        <p:txBody>
          <a:bodyPr wrap="square" lIns="0" tIns="0" rIns="0" bIns="0" rtlCol="0" anchor="t"/>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Scoring de risque client</a:t>
            </a:r>
            <a:endParaRPr lang="en-US" sz="1300" dirty="0"/>
          </a:p>
        </p:txBody>
      </p:sp>
      <p:sp>
        <p:nvSpPr>
          <p:cNvPr id="8" name="Text 5"/>
          <p:cNvSpPr txBox="1"/>
          <p:nvPr/>
        </p:nvSpPr>
        <p:spPr>
          <a:xfrm>
            <a:off x="978408" y="2944368"/>
            <a:ext cx="2807208" cy="77724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Notation multi-critères — pays, activité, canal, statut PPE, structure de détention — avec pondérations ajustables.</a:t>
            </a:r>
            <a:endParaRPr lang="en-US" sz="1100" dirty="0"/>
          </a:p>
        </p:txBody>
      </p:sp>
      <p:sp>
        <p:nvSpPr>
          <p:cNvPr id="9" name="Shape 6"/>
          <p:cNvSpPr/>
          <p:nvPr/>
        </p:nvSpPr>
        <p:spPr>
          <a:xfrm>
            <a:off x="4398264" y="1664208"/>
            <a:ext cx="3392424" cy="2148840"/>
          </a:xfrm>
          <a:prstGeom prst="roundRect">
            <a:avLst>
              <a:gd name="adj" fmla="val 3830"/>
            </a:avLst>
          </a:prstGeom>
          <a:solidFill>
            <a:srgbClr val="0E1523"/>
          </a:solidFill>
          <a:ln w="12700">
            <a:solidFill>
              <a:srgbClr val="1F2A40"/>
            </a:solidFill>
            <a:prstDash val="solid"/>
          </a:ln>
        </p:spPr>
      </p:sp>
      <p:sp>
        <p:nvSpPr>
          <p:cNvPr id="10" name="Shape 7"/>
          <p:cNvSpPr/>
          <p:nvPr/>
        </p:nvSpPr>
        <p:spPr>
          <a:xfrm>
            <a:off x="4690872" y="1883664"/>
            <a:ext cx="502920" cy="502920"/>
          </a:xfrm>
          <a:prstGeom prst="roundRect">
            <a:avLst>
              <a:gd name="adj" fmla="val 50909"/>
            </a:avLst>
          </a:prstGeom>
          <a:solidFill>
            <a:srgbClr val="A78BFA">
              <a:alpha val="16000"/>
            </a:srgbClr>
          </a:solidFill>
          <a:ln w="12700">
            <a:solidFill>
              <a:srgbClr val="A78BFA">
                <a:alpha val="40000"/>
              </a:srgbClr>
            </a:solidFill>
            <a:prstDash val="solid"/>
          </a:ln>
        </p:spPr>
      </p:sp>
      <p:pic>
        <p:nvPicPr>
          <p:cNvPr id="11" name="Image 1" descr="preencoded.png">    </p:cNvPr>
          <p:cNvPicPr>
            <a:picLocks noChangeAspect="1"/>
          </p:cNvPicPr>
          <p:nvPr/>
        </p:nvPicPr>
        <p:blipFill>
          <a:blip r:embed="rId2"/>
          <a:stretch>
            <a:fillRect/>
          </a:stretch>
        </p:blipFill>
        <p:spPr>
          <a:xfrm>
            <a:off x="4806544" y="1999336"/>
            <a:ext cx="271577" cy="271577"/>
          </a:xfrm>
          <a:prstGeom prst="rect">
            <a:avLst/>
          </a:prstGeom>
        </p:spPr>
      </p:pic>
      <p:sp>
        <p:nvSpPr>
          <p:cNvPr id="12" name="Text 8"/>
          <p:cNvSpPr txBox="1"/>
          <p:nvPr/>
        </p:nvSpPr>
        <p:spPr>
          <a:xfrm>
            <a:off x="4690872" y="2468880"/>
            <a:ext cx="2807208" cy="438912"/>
          </a:xfrm>
          <a:prstGeom prst="rect">
            <a:avLst/>
          </a:prstGeom>
          <a:noFill/>
          <a:ln/>
        </p:spPr>
        <p:txBody>
          <a:bodyPr wrap="square" lIns="0" tIns="0" rIns="0" bIns="0" rtlCol="0" anchor="t"/>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Profils comportementaux</a:t>
            </a:r>
            <a:endParaRPr lang="en-US" sz="1300" dirty="0"/>
          </a:p>
        </p:txBody>
      </p:sp>
      <p:sp>
        <p:nvSpPr>
          <p:cNvPr id="13" name="Text 9"/>
          <p:cNvSpPr txBox="1"/>
          <p:nvPr/>
        </p:nvSpPr>
        <p:spPr>
          <a:xfrm>
            <a:off x="4690872" y="2944368"/>
            <a:ext cx="2807208" cy="77724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Chaque client dispose d'un profil transactionnel de référence. L'alerte se déclenche sur l'écart au profil.</a:t>
            </a:r>
            <a:endParaRPr lang="en-US" sz="1100" dirty="0"/>
          </a:p>
        </p:txBody>
      </p:sp>
      <p:sp>
        <p:nvSpPr>
          <p:cNvPr id="14" name="Shape 10"/>
          <p:cNvSpPr/>
          <p:nvPr/>
        </p:nvSpPr>
        <p:spPr>
          <a:xfrm>
            <a:off x="8110728" y="1664208"/>
            <a:ext cx="3392424" cy="2148840"/>
          </a:xfrm>
          <a:prstGeom prst="roundRect">
            <a:avLst>
              <a:gd name="adj" fmla="val 3830"/>
            </a:avLst>
          </a:prstGeom>
          <a:solidFill>
            <a:srgbClr val="0E1523"/>
          </a:solidFill>
          <a:ln w="12700">
            <a:solidFill>
              <a:srgbClr val="1F2A40"/>
            </a:solidFill>
            <a:prstDash val="solid"/>
          </a:ln>
        </p:spPr>
      </p:sp>
      <p:sp>
        <p:nvSpPr>
          <p:cNvPr id="15" name="Shape 11"/>
          <p:cNvSpPr/>
          <p:nvPr/>
        </p:nvSpPr>
        <p:spPr>
          <a:xfrm>
            <a:off x="8403336" y="1883664"/>
            <a:ext cx="502920" cy="502920"/>
          </a:xfrm>
          <a:prstGeom prst="roundRect">
            <a:avLst>
              <a:gd name="adj" fmla="val 50909"/>
            </a:avLst>
          </a:prstGeom>
          <a:solidFill>
            <a:srgbClr val="38BDF8">
              <a:alpha val="16000"/>
            </a:srgbClr>
          </a:solidFill>
          <a:ln w="12700">
            <a:solidFill>
              <a:srgbClr val="38BDF8">
                <a:alpha val="40000"/>
              </a:srgbClr>
            </a:solidFill>
            <a:prstDash val="solid"/>
          </a:ln>
        </p:spPr>
      </p:sp>
      <p:pic>
        <p:nvPicPr>
          <p:cNvPr id="16" name="Image 2" descr="preencoded.png">    </p:cNvPr>
          <p:cNvPicPr>
            <a:picLocks noChangeAspect="1"/>
          </p:cNvPicPr>
          <p:nvPr/>
        </p:nvPicPr>
        <p:blipFill>
          <a:blip r:embed="rId3"/>
          <a:stretch>
            <a:fillRect/>
          </a:stretch>
        </p:blipFill>
        <p:spPr>
          <a:xfrm>
            <a:off x="8519008" y="1999336"/>
            <a:ext cx="271577" cy="271577"/>
          </a:xfrm>
          <a:prstGeom prst="rect">
            <a:avLst/>
          </a:prstGeom>
        </p:spPr>
      </p:pic>
      <p:sp>
        <p:nvSpPr>
          <p:cNvPr id="17" name="Text 12"/>
          <p:cNvSpPr txBox="1"/>
          <p:nvPr/>
        </p:nvSpPr>
        <p:spPr>
          <a:xfrm>
            <a:off x="8403336" y="2468880"/>
            <a:ext cx="2807208" cy="438912"/>
          </a:xfrm>
          <a:prstGeom prst="rect">
            <a:avLst/>
          </a:prstGeom>
          <a:noFill/>
          <a:ln/>
        </p:spPr>
        <p:txBody>
          <a:bodyPr wrap="square" lIns="0" tIns="0" rIns="0" bIns="0" rtlCol="0" anchor="t"/>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Scénarios typologiques</a:t>
            </a:r>
            <a:endParaRPr lang="en-US" sz="1300" dirty="0"/>
          </a:p>
        </p:txBody>
      </p:sp>
      <p:sp>
        <p:nvSpPr>
          <p:cNvPr id="18" name="Text 13"/>
          <p:cNvSpPr txBox="1"/>
          <p:nvPr/>
        </p:nvSpPr>
        <p:spPr>
          <a:xfrm>
            <a:off x="8403336" y="2944368"/>
            <a:ext cx="2807208" cy="77724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Bibliothèque calibrée sur les typologies GIABA : fractionnement, comptes de passage, flux transfrontaliers atypiques.</a:t>
            </a:r>
            <a:endParaRPr lang="en-US" sz="1100" dirty="0"/>
          </a:p>
        </p:txBody>
      </p:sp>
      <p:sp>
        <p:nvSpPr>
          <p:cNvPr id="19" name="Shape 14"/>
          <p:cNvSpPr/>
          <p:nvPr/>
        </p:nvSpPr>
        <p:spPr>
          <a:xfrm>
            <a:off x="685800" y="4050792"/>
            <a:ext cx="3392424" cy="2148840"/>
          </a:xfrm>
          <a:prstGeom prst="roundRect">
            <a:avLst>
              <a:gd name="adj" fmla="val 3830"/>
            </a:avLst>
          </a:prstGeom>
          <a:solidFill>
            <a:srgbClr val="0E1523"/>
          </a:solidFill>
          <a:ln w="12700">
            <a:solidFill>
              <a:srgbClr val="1F2A40"/>
            </a:solidFill>
            <a:prstDash val="solid"/>
          </a:ln>
        </p:spPr>
      </p:sp>
      <p:sp>
        <p:nvSpPr>
          <p:cNvPr id="20" name="Shape 15"/>
          <p:cNvSpPr/>
          <p:nvPr/>
        </p:nvSpPr>
        <p:spPr>
          <a:xfrm>
            <a:off x="978408" y="4270248"/>
            <a:ext cx="502920" cy="502920"/>
          </a:xfrm>
          <a:prstGeom prst="roundRect">
            <a:avLst>
              <a:gd name="adj" fmla="val 50909"/>
            </a:avLst>
          </a:prstGeom>
          <a:solidFill>
            <a:srgbClr val="A78BFA">
              <a:alpha val="16000"/>
            </a:srgbClr>
          </a:solidFill>
          <a:ln w="12700">
            <a:solidFill>
              <a:srgbClr val="A78BFA">
                <a:alpha val="40000"/>
              </a:srgbClr>
            </a:solidFill>
            <a:prstDash val="solid"/>
          </a:ln>
        </p:spPr>
      </p:sp>
      <p:pic>
        <p:nvPicPr>
          <p:cNvPr id="21" name="Image 3" descr="preencoded.png">    </p:cNvPr>
          <p:cNvPicPr>
            <a:picLocks noChangeAspect="1"/>
          </p:cNvPicPr>
          <p:nvPr/>
        </p:nvPicPr>
        <p:blipFill>
          <a:blip r:embed="rId4"/>
          <a:stretch>
            <a:fillRect/>
          </a:stretch>
        </p:blipFill>
        <p:spPr>
          <a:xfrm>
            <a:off x="1094080" y="4385920"/>
            <a:ext cx="271577" cy="271577"/>
          </a:xfrm>
          <a:prstGeom prst="rect">
            <a:avLst/>
          </a:prstGeom>
        </p:spPr>
      </p:pic>
      <p:sp>
        <p:nvSpPr>
          <p:cNvPr id="22" name="Text 16"/>
          <p:cNvSpPr txBox="1"/>
          <p:nvPr/>
        </p:nvSpPr>
        <p:spPr>
          <a:xfrm>
            <a:off x="978408" y="4855464"/>
            <a:ext cx="2807208" cy="438912"/>
          </a:xfrm>
          <a:prstGeom prst="rect">
            <a:avLst/>
          </a:prstGeom>
          <a:noFill/>
          <a:ln/>
        </p:spPr>
        <p:txBody>
          <a:bodyPr wrap="square" lIns="0" tIns="0" rIns="0" bIns="0" rtlCol="0" anchor="t"/>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Filtrage des listes</a:t>
            </a:r>
            <a:endParaRPr lang="en-US" sz="1300" dirty="0"/>
          </a:p>
        </p:txBody>
      </p:sp>
      <p:sp>
        <p:nvSpPr>
          <p:cNvPr id="23" name="Text 17"/>
          <p:cNvSpPr txBox="1"/>
          <p:nvPr/>
        </p:nvSpPr>
        <p:spPr>
          <a:xfrm>
            <a:off x="978408" y="5330952"/>
            <a:ext cx="2807208" cy="77724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Criblage contre les listes de sanctions, les gels d'avoirs nationaux et les bases PPE, avec gestion des homonymies.</a:t>
            </a:r>
            <a:endParaRPr lang="en-US" sz="1100" dirty="0"/>
          </a:p>
        </p:txBody>
      </p:sp>
      <p:sp>
        <p:nvSpPr>
          <p:cNvPr id="24" name="Shape 18"/>
          <p:cNvSpPr/>
          <p:nvPr/>
        </p:nvSpPr>
        <p:spPr>
          <a:xfrm>
            <a:off x="4398264" y="4050792"/>
            <a:ext cx="3392424" cy="2148840"/>
          </a:xfrm>
          <a:prstGeom prst="roundRect">
            <a:avLst>
              <a:gd name="adj" fmla="val 3830"/>
            </a:avLst>
          </a:prstGeom>
          <a:solidFill>
            <a:srgbClr val="0E1523"/>
          </a:solidFill>
          <a:ln w="12700">
            <a:solidFill>
              <a:srgbClr val="1F2A40"/>
            </a:solidFill>
            <a:prstDash val="solid"/>
          </a:ln>
        </p:spPr>
      </p:sp>
      <p:sp>
        <p:nvSpPr>
          <p:cNvPr id="25" name="Shape 19"/>
          <p:cNvSpPr/>
          <p:nvPr/>
        </p:nvSpPr>
        <p:spPr>
          <a:xfrm>
            <a:off x="4690872" y="4270248"/>
            <a:ext cx="502920" cy="502920"/>
          </a:xfrm>
          <a:prstGeom prst="roundRect">
            <a:avLst>
              <a:gd name="adj" fmla="val 50909"/>
            </a:avLst>
          </a:prstGeom>
          <a:solidFill>
            <a:srgbClr val="38BDF8">
              <a:alpha val="16000"/>
            </a:srgbClr>
          </a:solidFill>
          <a:ln w="12700">
            <a:solidFill>
              <a:srgbClr val="38BDF8">
                <a:alpha val="40000"/>
              </a:srgbClr>
            </a:solidFill>
            <a:prstDash val="solid"/>
          </a:ln>
        </p:spPr>
      </p:sp>
      <p:pic>
        <p:nvPicPr>
          <p:cNvPr id="26" name="Image 4" descr="preencoded.png">    </p:cNvPr>
          <p:cNvPicPr>
            <a:picLocks noChangeAspect="1"/>
          </p:cNvPicPr>
          <p:nvPr/>
        </p:nvPicPr>
        <p:blipFill>
          <a:blip r:embed="rId5"/>
          <a:stretch>
            <a:fillRect/>
          </a:stretch>
        </p:blipFill>
        <p:spPr>
          <a:xfrm>
            <a:off x="4806544" y="4385920"/>
            <a:ext cx="271577" cy="271577"/>
          </a:xfrm>
          <a:prstGeom prst="rect">
            <a:avLst/>
          </a:prstGeom>
        </p:spPr>
      </p:pic>
      <p:sp>
        <p:nvSpPr>
          <p:cNvPr id="27" name="Text 20"/>
          <p:cNvSpPr txBox="1"/>
          <p:nvPr/>
        </p:nvSpPr>
        <p:spPr>
          <a:xfrm>
            <a:off x="4690872" y="4855464"/>
            <a:ext cx="2807208" cy="438912"/>
          </a:xfrm>
          <a:prstGeom prst="rect">
            <a:avLst/>
          </a:prstGeom>
          <a:noFill/>
          <a:ln/>
        </p:spPr>
        <p:txBody>
          <a:bodyPr wrap="square" lIns="0" tIns="0" rIns="0" bIns="0" rtlCol="0" anchor="t"/>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Gestion du cycle d'alerte</a:t>
            </a:r>
            <a:endParaRPr lang="en-US" sz="1300" dirty="0"/>
          </a:p>
        </p:txBody>
      </p:sp>
      <p:sp>
        <p:nvSpPr>
          <p:cNvPr id="28" name="Text 21"/>
          <p:cNvSpPr txBox="1"/>
          <p:nvPr/>
        </p:nvSpPr>
        <p:spPr>
          <a:xfrm>
            <a:off x="4690872" y="5330952"/>
            <a:ext cx="2807208" cy="77724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File priorisée, affectation, investigation documentée et génération du projet de déclaration pour la CENTIF.</a:t>
            </a:r>
            <a:endParaRPr lang="en-US" sz="1100" dirty="0"/>
          </a:p>
        </p:txBody>
      </p:sp>
      <p:sp>
        <p:nvSpPr>
          <p:cNvPr id="29" name="Shape 22"/>
          <p:cNvSpPr/>
          <p:nvPr/>
        </p:nvSpPr>
        <p:spPr>
          <a:xfrm>
            <a:off x="8110728" y="4050792"/>
            <a:ext cx="3392424" cy="2148840"/>
          </a:xfrm>
          <a:prstGeom prst="roundRect">
            <a:avLst>
              <a:gd name="adj" fmla="val 3830"/>
            </a:avLst>
          </a:prstGeom>
          <a:solidFill>
            <a:srgbClr val="0E1523"/>
          </a:solidFill>
          <a:ln w="12700">
            <a:solidFill>
              <a:srgbClr val="1F2A40"/>
            </a:solidFill>
            <a:prstDash val="solid"/>
          </a:ln>
        </p:spPr>
      </p:sp>
      <p:sp>
        <p:nvSpPr>
          <p:cNvPr id="30" name="Shape 23"/>
          <p:cNvSpPr/>
          <p:nvPr/>
        </p:nvSpPr>
        <p:spPr>
          <a:xfrm>
            <a:off x="8403336" y="4270248"/>
            <a:ext cx="502920" cy="502920"/>
          </a:xfrm>
          <a:prstGeom prst="roundRect">
            <a:avLst>
              <a:gd name="adj" fmla="val 50909"/>
            </a:avLst>
          </a:prstGeom>
          <a:solidFill>
            <a:srgbClr val="A78BFA">
              <a:alpha val="16000"/>
            </a:srgbClr>
          </a:solidFill>
          <a:ln w="12700">
            <a:solidFill>
              <a:srgbClr val="A78BFA">
                <a:alpha val="40000"/>
              </a:srgbClr>
            </a:solidFill>
            <a:prstDash val="solid"/>
          </a:ln>
        </p:spPr>
      </p:sp>
      <p:pic>
        <p:nvPicPr>
          <p:cNvPr id="31" name="Image 5" descr="preencoded.png">    </p:cNvPr>
          <p:cNvPicPr>
            <a:picLocks noChangeAspect="1"/>
          </p:cNvPicPr>
          <p:nvPr/>
        </p:nvPicPr>
        <p:blipFill>
          <a:blip r:embed="rId6"/>
          <a:stretch>
            <a:fillRect/>
          </a:stretch>
        </p:blipFill>
        <p:spPr>
          <a:xfrm>
            <a:off x="8519008" y="4385920"/>
            <a:ext cx="271577" cy="271577"/>
          </a:xfrm>
          <a:prstGeom prst="rect">
            <a:avLst/>
          </a:prstGeom>
        </p:spPr>
      </p:pic>
      <p:sp>
        <p:nvSpPr>
          <p:cNvPr id="32" name="Text 24"/>
          <p:cNvSpPr txBox="1"/>
          <p:nvPr/>
        </p:nvSpPr>
        <p:spPr>
          <a:xfrm>
            <a:off x="8403336" y="4855464"/>
            <a:ext cx="2807208" cy="438912"/>
          </a:xfrm>
          <a:prstGeom prst="rect">
            <a:avLst/>
          </a:prstGeom>
          <a:noFill/>
          <a:ln/>
        </p:spPr>
        <p:txBody>
          <a:bodyPr wrap="square" lIns="0" tIns="0" rIns="0" bIns="0" rtlCol="0" anchor="t"/>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Réduction des faux positifs</a:t>
            </a:r>
            <a:endParaRPr lang="en-US" sz="1300" dirty="0"/>
          </a:p>
        </p:txBody>
      </p:sp>
      <p:sp>
        <p:nvSpPr>
          <p:cNvPr id="33" name="Text 25"/>
          <p:cNvSpPr txBox="1"/>
          <p:nvPr/>
        </p:nvSpPr>
        <p:spPr>
          <a:xfrm>
            <a:off x="8403336" y="5330952"/>
            <a:ext cx="2807208" cy="77724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Le moteur apprend des décisions de clôture et réordonne les alertes, sans jamais en supprimer automatiquement.</a:t>
            </a:r>
            <a:endParaRPr lang="en-US" sz="1100" dirty="0"/>
          </a:p>
        </p:txBody>
      </p:sp>
      <p:sp>
        <p:nvSpPr>
          <p:cNvPr id="34" name="Text 26"/>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35" name="Text 27"/>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EN PRATIQUE</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Du seuil fixe au profil comportemental</a:t>
            </a:r>
            <a:endParaRPr lang="en-US" sz="3100" dirty="0"/>
          </a:p>
        </p:txBody>
      </p:sp>
      <p:sp>
        <p:nvSpPr>
          <p:cNvPr id="4" name="Text 2"/>
          <p:cNvSpPr txBox="1"/>
          <p:nvPr/>
        </p:nvSpPr>
        <p:spPr>
          <a:xfrm>
            <a:off x="685800" y="1335024"/>
            <a:ext cx="9692640" cy="365760"/>
          </a:xfrm>
          <a:prstGeom prst="rect">
            <a:avLst/>
          </a:prstGeom>
          <a:noFill/>
          <a:ln/>
        </p:spPr>
        <p:txBody>
          <a:bodyPr wrap="square" lIns="0" tIns="0" rIns="0" bIns="0" rtlCol="0" anchor="t"/>
          <a:lstStyle/>
          <a:p>
            <a:pPr indent="0" marL="0">
              <a:buNone/>
            </a:pPr>
            <a:r>
              <a:rPr lang="en-US" sz="1350" dirty="0">
                <a:solidFill>
                  <a:srgbClr val="93A1BC"/>
                </a:solidFill>
                <a:latin typeface="Calibri" pitchFamily="34" charset="0"/>
                <a:ea typeface="Calibri" pitchFamily="34" charset="-122"/>
                <a:cs typeface="Calibri" pitchFamily="34" charset="-120"/>
              </a:rPr>
              <a:t>Un seuil unique appliqué à une clientèle hétérogène produit du bruit et manque les vrais signaux.</a:t>
            </a:r>
            <a:endParaRPr lang="en-US" sz="1350" dirty="0"/>
          </a:p>
        </p:txBody>
      </p:sp>
      <p:sp>
        <p:nvSpPr>
          <p:cNvPr id="5" name="Shape 3"/>
          <p:cNvSpPr/>
          <p:nvPr/>
        </p:nvSpPr>
        <p:spPr>
          <a:xfrm>
            <a:off x="685800" y="2148840"/>
            <a:ext cx="5257800" cy="3200400"/>
          </a:xfrm>
          <a:prstGeom prst="roundRect">
            <a:avLst>
              <a:gd name="adj" fmla="val 2571"/>
            </a:avLst>
          </a:prstGeom>
          <a:solidFill>
            <a:srgbClr val="0E1523"/>
          </a:solidFill>
          <a:ln w="12700">
            <a:solidFill>
              <a:srgbClr val="1F2A40"/>
            </a:solidFill>
            <a:prstDash val="solid"/>
          </a:ln>
        </p:spPr>
      </p:sp>
      <p:sp>
        <p:nvSpPr>
          <p:cNvPr id="6" name="Text 4"/>
          <p:cNvSpPr txBox="1"/>
          <p:nvPr/>
        </p:nvSpPr>
        <p:spPr>
          <a:xfrm>
            <a:off x="1051560" y="2377440"/>
            <a:ext cx="4526280" cy="256032"/>
          </a:xfrm>
          <a:prstGeom prst="rect">
            <a:avLst/>
          </a:prstGeom>
          <a:noFill/>
          <a:ln/>
        </p:spPr>
        <p:txBody>
          <a:bodyPr wrap="square" lIns="0" tIns="0" rIns="0" bIns="0" rtlCol="0" anchor="t"/>
          <a:lstStyle/>
          <a:p>
            <a:pPr indent="0" marL="0">
              <a:buNone/>
            </a:pPr>
            <a:r>
              <a:rPr lang="en-US" sz="1050" b="1" spc="140" kern="0" dirty="0">
                <a:solidFill>
                  <a:srgbClr val="F87171"/>
                </a:solidFill>
                <a:latin typeface="Calibri" pitchFamily="34" charset="0"/>
                <a:ea typeface="Calibri" pitchFamily="34" charset="-122"/>
                <a:cs typeface="Calibri" pitchFamily="34" charset="-120"/>
              </a:rPr>
              <a:t>AUJOURD'HUI</a:t>
            </a:r>
            <a:endParaRPr lang="en-US" sz="1050" dirty="0"/>
          </a:p>
        </p:txBody>
      </p:sp>
      <p:sp>
        <p:nvSpPr>
          <p:cNvPr id="7" name="Text 5"/>
          <p:cNvSpPr txBox="1"/>
          <p:nvPr/>
        </p:nvSpPr>
        <p:spPr>
          <a:xfrm>
            <a:off x="1051560" y="2670048"/>
            <a:ext cx="4526280" cy="3200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Paramétrage par seuils fixes</a:t>
            </a:r>
            <a:endParaRPr lang="en-US" sz="1600" dirty="0"/>
          </a:p>
        </p:txBody>
      </p:sp>
      <p:sp>
        <p:nvSpPr>
          <p:cNvPr id="8" name="Text 6"/>
          <p:cNvSpPr txBox="1"/>
          <p:nvPr/>
        </p:nvSpPr>
        <p:spPr>
          <a:xfrm>
            <a:off x="1051560" y="3154680"/>
            <a:ext cx="4526280" cy="201168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250" dirty="0">
                <a:solidFill>
                  <a:srgbClr val="93A1BC"/>
                </a:solidFill>
                <a:latin typeface="Calibri" pitchFamily="34" charset="0"/>
                <a:ea typeface="Calibri" pitchFamily="34" charset="-122"/>
                <a:cs typeface="Calibri" pitchFamily="34" charset="-120"/>
              </a:rPr>
              <a:t>Un même seuil pour le commerçant et le salarié</a:t>
            </a:r>
            <a:endParaRPr lang="en-US" sz="1250" dirty="0"/>
          </a:p>
          <a:p>
            <a:pPr marL="342900" indent="-342900">
              <a:lnSpc>
                <a:spcPts val="1500"/>
              </a:lnSpc>
              <a:spcAft>
                <a:spcPts val="700"/>
              </a:spcAft>
              <a:buSzPct val="100000"/>
              <a:buChar char="•"/>
            </a:pPr>
            <a:r>
              <a:rPr lang="en-US" sz="1250" dirty="0">
                <a:solidFill>
                  <a:srgbClr val="93A1BC"/>
                </a:solidFill>
                <a:latin typeface="Calibri" pitchFamily="34" charset="0"/>
                <a:ea typeface="Calibri" pitchFamily="34" charset="-122"/>
                <a:cs typeface="Calibri" pitchFamily="34" charset="-120"/>
              </a:rPr>
              <a:t>Des milliers d'alertes par mois, plus de 95 % de faux positifs</a:t>
            </a:r>
            <a:endParaRPr lang="en-US" sz="1250" dirty="0"/>
          </a:p>
          <a:p>
            <a:pPr marL="342900" indent="-342900">
              <a:lnSpc>
                <a:spcPts val="1500"/>
              </a:lnSpc>
              <a:spcAft>
                <a:spcPts val="700"/>
              </a:spcAft>
              <a:buSzPct val="100000"/>
              <a:buChar char="•"/>
            </a:pPr>
            <a:r>
              <a:rPr lang="en-US" sz="1250" dirty="0">
                <a:solidFill>
                  <a:srgbClr val="93A1BC"/>
                </a:solidFill>
                <a:latin typeface="Calibri" pitchFamily="34" charset="0"/>
                <a:ea typeface="Calibri" pitchFamily="34" charset="-122"/>
                <a:cs typeface="Calibri" pitchFamily="34" charset="-120"/>
              </a:rPr>
              <a:t>L'équipe traite le volume, pas le risque</a:t>
            </a:r>
            <a:endParaRPr lang="en-US" sz="1250" dirty="0"/>
          </a:p>
          <a:p>
            <a:pPr marL="342900" indent="-342900">
              <a:lnSpc>
                <a:spcPts val="1500"/>
              </a:lnSpc>
              <a:spcAft>
                <a:spcPts val="700"/>
              </a:spcAft>
              <a:buSzPct val="100000"/>
              <a:buChar char="•"/>
            </a:pPr>
            <a:r>
              <a:rPr lang="en-US" sz="1250" dirty="0">
                <a:solidFill>
                  <a:srgbClr val="93A1BC"/>
                </a:solidFill>
                <a:latin typeface="Calibri" pitchFamily="34" charset="0"/>
                <a:ea typeface="Calibri" pitchFamily="34" charset="-122"/>
                <a:cs typeface="Calibri" pitchFamily="34" charset="-120"/>
              </a:rPr>
              <a:t>Aucune mémoire des décisions passées</a:t>
            </a:r>
            <a:endParaRPr lang="en-US" sz="1250" dirty="0"/>
          </a:p>
        </p:txBody>
      </p:sp>
      <p:sp>
        <p:nvSpPr>
          <p:cNvPr id="9" name="Shape 7"/>
          <p:cNvSpPr/>
          <p:nvPr/>
        </p:nvSpPr>
        <p:spPr>
          <a:xfrm>
            <a:off x="6245352" y="2148840"/>
            <a:ext cx="5257800" cy="3200400"/>
          </a:xfrm>
          <a:prstGeom prst="roundRect">
            <a:avLst>
              <a:gd name="adj" fmla="val 2571"/>
            </a:avLst>
          </a:prstGeom>
          <a:solidFill>
            <a:srgbClr val="0E1523"/>
          </a:solidFill>
          <a:ln w="12700">
            <a:solidFill>
              <a:srgbClr val="38BDF8"/>
            </a:solidFill>
            <a:prstDash val="solid"/>
          </a:ln>
        </p:spPr>
      </p:sp>
      <p:sp>
        <p:nvSpPr>
          <p:cNvPr id="10" name="Text 8"/>
          <p:cNvSpPr txBox="1"/>
          <p:nvPr/>
        </p:nvSpPr>
        <p:spPr>
          <a:xfrm>
            <a:off x="6611112" y="2377440"/>
            <a:ext cx="4526280" cy="256032"/>
          </a:xfrm>
          <a:prstGeom prst="rect">
            <a:avLst/>
          </a:prstGeom>
          <a:noFill/>
          <a:ln/>
        </p:spPr>
        <p:txBody>
          <a:bodyPr wrap="square" lIns="0" tIns="0" rIns="0" bIns="0" rtlCol="0" anchor="t"/>
          <a:lstStyle/>
          <a:p>
            <a:pPr indent="0" marL="0">
              <a:buNone/>
            </a:pPr>
            <a:r>
              <a:rPr lang="en-US" sz="1050" b="1" spc="140" kern="0" dirty="0">
                <a:solidFill>
                  <a:srgbClr val="34D399"/>
                </a:solidFill>
                <a:latin typeface="Calibri" pitchFamily="34" charset="0"/>
                <a:ea typeface="Calibri" pitchFamily="34" charset="-122"/>
                <a:cs typeface="Calibri" pitchFamily="34" charset="-120"/>
              </a:rPr>
              <a:t>AVEC LE MODULE</a:t>
            </a:r>
            <a:endParaRPr lang="en-US" sz="1050" dirty="0"/>
          </a:p>
        </p:txBody>
      </p:sp>
      <p:sp>
        <p:nvSpPr>
          <p:cNvPr id="11" name="Text 9"/>
          <p:cNvSpPr txBox="1"/>
          <p:nvPr/>
        </p:nvSpPr>
        <p:spPr>
          <a:xfrm>
            <a:off x="6611112" y="2670048"/>
            <a:ext cx="4526280" cy="3200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Profil comportemental Konformix Vigil</a:t>
            </a:r>
            <a:endParaRPr lang="en-US" sz="1600" dirty="0"/>
          </a:p>
        </p:txBody>
      </p:sp>
      <p:sp>
        <p:nvSpPr>
          <p:cNvPr id="12" name="Text 10"/>
          <p:cNvSpPr txBox="1"/>
          <p:nvPr/>
        </p:nvSpPr>
        <p:spPr>
          <a:xfrm>
            <a:off x="6611112" y="3154680"/>
            <a:ext cx="4526280" cy="201168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250" dirty="0">
                <a:solidFill>
                  <a:srgbClr val="E7ECF6"/>
                </a:solidFill>
                <a:latin typeface="Calibri" pitchFamily="34" charset="0"/>
                <a:ea typeface="Calibri" pitchFamily="34" charset="-122"/>
                <a:cs typeface="Calibri" pitchFamily="34" charset="-120"/>
              </a:rPr>
              <a:t>Un profil de référence par client, construit sur son historique</a:t>
            </a:r>
            <a:endParaRPr lang="en-US" sz="1250" dirty="0"/>
          </a:p>
          <a:p>
            <a:pPr marL="342900" indent="-342900">
              <a:lnSpc>
                <a:spcPts val="1500"/>
              </a:lnSpc>
              <a:spcAft>
                <a:spcPts val="700"/>
              </a:spcAft>
              <a:buSzPct val="100000"/>
              <a:buChar char="•"/>
            </a:pPr>
            <a:r>
              <a:rPr lang="en-US" sz="1250" dirty="0">
                <a:solidFill>
                  <a:srgbClr val="E7ECF6"/>
                </a:solidFill>
                <a:latin typeface="Calibri" pitchFamily="34" charset="0"/>
                <a:ea typeface="Calibri" pitchFamily="34" charset="-122"/>
                <a:cs typeface="Calibri" pitchFamily="34" charset="-120"/>
              </a:rPr>
              <a:t>L'alerte porte sur l'écart au profil, motif affiché</a:t>
            </a:r>
            <a:endParaRPr lang="en-US" sz="1250" dirty="0"/>
          </a:p>
          <a:p>
            <a:pPr marL="342900" indent="-342900">
              <a:lnSpc>
                <a:spcPts val="1500"/>
              </a:lnSpc>
              <a:spcAft>
                <a:spcPts val="700"/>
              </a:spcAft>
              <a:buSzPct val="100000"/>
              <a:buChar char="•"/>
            </a:pPr>
            <a:r>
              <a:rPr lang="en-US" sz="1250" dirty="0">
                <a:solidFill>
                  <a:srgbClr val="E7ECF6"/>
                </a:solidFill>
                <a:latin typeface="Calibri" pitchFamily="34" charset="0"/>
                <a:ea typeface="Calibri" pitchFamily="34" charset="-122"/>
                <a:cs typeface="Calibri" pitchFamily="34" charset="-120"/>
              </a:rPr>
              <a:t>File priorisée : les analystes traitent d'abord le risque</a:t>
            </a:r>
            <a:endParaRPr lang="en-US" sz="1250" dirty="0"/>
          </a:p>
          <a:p>
            <a:pPr marL="342900" indent="-342900">
              <a:lnSpc>
                <a:spcPts val="1500"/>
              </a:lnSpc>
              <a:spcAft>
                <a:spcPts val="700"/>
              </a:spcAft>
              <a:buSzPct val="100000"/>
              <a:buChar char="•"/>
            </a:pPr>
            <a:r>
              <a:rPr lang="en-US" sz="1250" dirty="0">
                <a:solidFill>
                  <a:srgbClr val="E7ECF6"/>
                </a:solidFill>
                <a:latin typeface="Calibri" pitchFamily="34" charset="0"/>
                <a:ea typeface="Calibri" pitchFamily="34" charset="-122"/>
                <a:cs typeface="Calibri" pitchFamily="34" charset="-120"/>
              </a:rPr>
              <a:t>Le moteur apprend des clôtures, sans rien supprimer</a:t>
            </a:r>
            <a:endParaRPr lang="en-US" sz="1250" dirty="0"/>
          </a:p>
        </p:txBody>
      </p:sp>
      <p:sp>
        <p:nvSpPr>
          <p:cNvPr id="13" name="Text 11"/>
          <p:cNvSpPr txBox="1"/>
          <p:nvPr/>
        </p:nvSpPr>
        <p:spPr>
          <a:xfrm>
            <a:off x="685800" y="5532120"/>
            <a:ext cx="10817352" cy="365760"/>
          </a:xfrm>
          <a:prstGeom prst="rect">
            <a:avLst/>
          </a:prstGeom>
          <a:noFill/>
          <a:ln/>
        </p:spPr>
        <p:txBody>
          <a:bodyPr wrap="square" lIns="0" tIns="0" rIns="0" bIns="0" rtlCol="0" anchor="t"/>
          <a:lstStyle/>
          <a:p>
            <a:pPr indent="0" marL="0">
              <a:buNone/>
            </a:pPr>
            <a:r>
              <a:rPr lang="en-US" sz="1250" dirty="0">
                <a:solidFill>
                  <a:srgbClr val="93A1BC"/>
                </a:solidFill>
                <a:latin typeface="Calibri" pitchFamily="34" charset="0"/>
                <a:ea typeface="Calibri" pitchFamily="34" charset="-122"/>
                <a:cs typeface="Calibri" pitchFamily="34" charset="-120"/>
              </a:rPr>
              <a:t>Aucune alerte n'est supprimée automatiquement : le moteur réordonne, l'analyste décide, la décision est tracée.</a:t>
            </a:r>
            <a:endParaRPr lang="en-US" sz="1250" dirty="0"/>
          </a:p>
        </p:txBody>
      </p:sp>
      <p:sp>
        <p:nvSpPr>
          <p:cNvPr id="14" name="Text 12"/>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15" name="Text 13"/>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BÉNÉFICES</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Ce que vous y gagnez</a:t>
            </a:r>
            <a:endParaRPr lang="en-US" sz="3100" dirty="0"/>
          </a:p>
        </p:txBody>
      </p:sp>
      <p:sp>
        <p:nvSpPr>
          <p:cNvPr id="4" name="Shape 2"/>
          <p:cNvSpPr/>
          <p:nvPr/>
        </p:nvSpPr>
        <p:spPr>
          <a:xfrm>
            <a:off x="685800" y="1828800"/>
            <a:ext cx="3392424" cy="2743200"/>
          </a:xfrm>
          <a:prstGeom prst="roundRect">
            <a:avLst>
              <a:gd name="adj" fmla="val 3000"/>
            </a:avLst>
          </a:prstGeom>
          <a:solidFill>
            <a:srgbClr val="0E1523"/>
          </a:solidFill>
          <a:ln w="12700">
            <a:solidFill>
              <a:srgbClr val="1F2A40"/>
            </a:solidFill>
            <a:prstDash val="solid"/>
          </a:ln>
        </p:spPr>
      </p:sp>
      <p:sp>
        <p:nvSpPr>
          <p:cNvPr id="5" name="Shape 3"/>
          <p:cNvSpPr/>
          <p:nvPr/>
        </p:nvSpPr>
        <p:spPr>
          <a:xfrm>
            <a:off x="1005840" y="2103120"/>
            <a:ext cx="566928" cy="566928"/>
          </a:xfrm>
          <a:prstGeom prst="roundRect">
            <a:avLst>
              <a:gd name="adj" fmla="val 45161"/>
            </a:avLst>
          </a:prstGeom>
          <a:solidFill>
            <a:srgbClr val="38BDF8">
              <a:alpha val="16000"/>
            </a:srgbClr>
          </a:solidFill>
          <a:ln w="12700">
            <a:solidFill>
              <a:srgbClr val="38BDF8">
                <a:alpha val="40000"/>
              </a:srgbClr>
            </a:solidFill>
            <a:prstDash val="solid"/>
          </a:ln>
        </p:spPr>
      </p:sp>
      <p:pic>
        <p:nvPicPr>
          <p:cNvPr id="6" name="Image 0" descr="preencoded.png">    </p:cNvPr>
          <p:cNvPicPr>
            <a:picLocks noChangeAspect="1"/>
          </p:cNvPicPr>
          <p:nvPr/>
        </p:nvPicPr>
        <p:blipFill>
          <a:blip r:embed="rId1"/>
          <a:stretch>
            <a:fillRect/>
          </a:stretch>
        </p:blipFill>
        <p:spPr>
          <a:xfrm>
            <a:off x="1136233" y="2233513"/>
            <a:ext cx="306141" cy="306141"/>
          </a:xfrm>
          <a:prstGeom prst="rect">
            <a:avLst/>
          </a:prstGeom>
        </p:spPr>
      </p:pic>
      <p:sp>
        <p:nvSpPr>
          <p:cNvPr id="7" name="Text 4"/>
          <p:cNvSpPr txBox="1"/>
          <p:nvPr/>
        </p:nvSpPr>
        <p:spPr>
          <a:xfrm>
            <a:off x="1005840" y="2834640"/>
            <a:ext cx="2752344" cy="5486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Moins de bruit, plus de signal</a:t>
            </a:r>
            <a:endParaRPr lang="en-US" sz="1500" dirty="0"/>
          </a:p>
        </p:txBody>
      </p:sp>
      <p:sp>
        <p:nvSpPr>
          <p:cNvPr id="8" name="Text 5"/>
          <p:cNvSpPr txBox="1"/>
          <p:nvPr/>
        </p:nvSpPr>
        <p:spPr>
          <a:xfrm>
            <a:off x="1005840" y="3429000"/>
            <a:ext cx="2752344" cy="1005840"/>
          </a:xfrm>
          <a:prstGeom prst="rect">
            <a:avLst/>
          </a:prstGeom>
          <a:noFill/>
          <a:ln/>
        </p:spPr>
        <p:txBody>
          <a:bodyPr wrap="square" lIns="0" tIns="0" rIns="0" bIns="0" rtlCol="0" anchor="t"/>
          <a:lstStyle/>
          <a:p>
            <a:pPr indent="0" marL="0">
              <a:lnSpc>
                <a:spcPts val="1700"/>
              </a:lnSpc>
              <a:buNone/>
            </a:pPr>
            <a:r>
              <a:rPr lang="en-US" sz="1150" dirty="0">
                <a:solidFill>
                  <a:srgbClr val="93A1BC"/>
                </a:solidFill>
                <a:latin typeface="Calibri" pitchFamily="34" charset="0"/>
                <a:ea typeface="Calibri" pitchFamily="34" charset="-122"/>
                <a:cs typeface="Calibri" pitchFamily="34" charset="-120"/>
              </a:rPr>
              <a:t>La priorisation par écart au profil réduit le volume à traiter et remonte les dossiers qui méritent l'examen.</a:t>
            </a:r>
            <a:endParaRPr lang="en-US" sz="1150" dirty="0"/>
          </a:p>
        </p:txBody>
      </p:sp>
      <p:sp>
        <p:nvSpPr>
          <p:cNvPr id="9" name="Shape 6"/>
          <p:cNvSpPr/>
          <p:nvPr/>
        </p:nvSpPr>
        <p:spPr>
          <a:xfrm>
            <a:off x="4398264" y="1828800"/>
            <a:ext cx="3392424" cy="2743200"/>
          </a:xfrm>
          <a:prstGeom prst="roundRect">
            <a:avLst>
              <a:gd name="adj" fmla="val 3000"/>
            </a:avLst>
          </a:prstGeom>
          <a:solidFill>
            <a:srgbClr val="0E1523"/>
          </a:solidFill>
          <a:ln w="12700">
            <a:solidFill>
              <a:srgbClr val="1F2A40"/>
            </a:solidFill>
            <a:prstDash val="solid"/>
          </a:ln>
        </p:spPr>
      </p:sp>
      <p:sp>
        <p:nvSpPr>
          <p:cNvPr id="10" name="Shape 7"/>
          <p:cNvSpPr/>
          <p:nvPr/>
        </p:nvSpPr>
        <p:spPr>
          <a:xfrm>
            <a:off x="4718304" y="2103120"/>
            <a:ext cx="566928" cy="566928"/>
          </a:xfrm>
          <a:prstGeom prst="roundRect">
            <a:avLst>
              <a:gd name="adj" fmla="val 45161"/>
            </a:avLst>
          </a:prstGeom>
          <a:solidFill>
            <a:srgbClr val="A78BFA">
              <a:alpha val="16000"/>
            </a:srgbClr>
          </a:solidFill>
          <a:ln w="12700">
            <a:solidFill>
              <a:srgbClr val="A78BFA">
                <a:alpha val="40000"/>
              </a:srgbClr>
            </a:solidFill>
            <a:prstDash val="solid"/>
          </a:ln>
        </p:spPr>
      </p:sp>
      <p:pic>
        <p:nvPicPr>
          <p:cNvPr id="11" name="Image 1" descr="preencoded.png">    </p:cNvPr>
          <p:cNvPicPr>
            <a:picLocks noChangeAspect="1"/>
          </p:cNvPicPr>
          <p:nvPr/>
        </p:nvPicPr>
        <p:blipFill>
          <a:blip r:embed="rId2"/>
          <a:stretch>
            <a:fillRect/>
          </a:stretch>
        </p:blipFill>
        <p:spPr>
          <a:xfrm>
            <a:off x="4848697" y="2233513"/>
            <a:ext cx="306141" cy="306141"/>
          </a:xfrm>
          <a:prstGeom prst="rect">
            <a:avLst/>
          </a:prstGeom>
        </p:spPr>
      </p:pic>
      <p:sp>
        <p:nvSpPr>
          <p:cNvPr id="12" name="Text 8"/>
          <p:cNvSpPr txBox="1"/>
          <p:nvPr/>
        </p:nvSpPr>
        <p:spPr>
          <a:xfrm>
            <a:off x="4718304" y="2834640"/>
            <a:ext cx="2752344" cy="5486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Une investigation documentée</a:t>
            </a:r>
            <a:endParaRPr lang="en-US" sz="1500" dirty="0"/>
          </a:p>
        </p:txBody>
      </p:sp>
      <p:sp>
        <p:nvSpPr>
          <p:cNvPr id="13" name="Text 9"/>
          <p:cNvSpPr txBox="1"/>
          <p:nvPr/>
        </p:nvSpPr>
        <p:spPr>
          <a:xfrm>
            <a:off x="4718304" y="3429000"/>
            <a:ext cx="2752344" cy="1005840"/>
          </a:xfrm>
          <a:prstGeom prst="rect">
            <a:avLst/>
          </a:prstGeom>
          <a:noFill/>
          <a:ln/>
        </p:spPr>
        <p:txBody>
          <a:bodyPr wrap="square" lIns="0" tIns="0" rIns="0" bIns="0" rtlCol="0" anchor="t"/>
          <a:lstStyle/>
          <a:p>
            <a:pPr indent="0" marL="0">
              <a:lnSpc>
                <a:spcPts val="1700"/>
              </a:lnSpc>
              <a:buNone/>
            </a:pPr>
            <a:r>
              <a:rPr lang="en-US" sz="1150" dirty="0">
                <a:solidFill>
                  <a:srgbClr val="93A1BC"/>
                </a:solidFill>
                <a:latin typeface="Calibri" pitchFamily="34" charset="0"/>
                <a:ea typeface="Calibri" pitchFamily="34" charset="-122"/>
                <a:cs typeface="Calibri" pitchFamily="34" charset="-120"/>
              </a:rPr>
              <a:t>Chaque alerte porte son motif, ses valeurs et sa décision : le projet de déclaration à la CENTIF part d'un dossier constitué.</a:t>
            </a:r>
            <a:endParaRPr lang="en-US" sz="1150" dirty="0"/>
          </a:p>
        </p:txBody>
      </p:sp>
      <p:sp>
        <p:nvSpPr>
          <p:cNvPr id="14" name="Shape 10"/>
          <p:cNvSpPr/>
          <p:nvPr/>
        </p:nvSpPr>
        <p:spPr>
          <a:xfrm>
            <a:off x="8110728" y="1828800"/>
            <a:ext cx="3392424" cy="2743200"/>
          </a:xfrm>
          <a:prstGeom prst="roundRect">
            <a:avLst>
              <a:gd name="adj" fmla="val 3000"/>
            </a:avLst>
          </a:prstGeom>
          <a:solidFill>
            <a:srgbClr val="0E1523"/>
          </a:solidFill>
          <a:ln w="12700">
            <a:solidFill>
              <a:srgbClr val="1F2A40"/>
            </a:solidFill>
            <a:prstDash val="solid"/>
          </a:ln>
        </p:spPr>
      </p:sp>
      <p:sp>
        <p:nvSpPr>
          <p:cNvPr id="15" name="Shape 11"/>
          <p:cNvSpPr/>
          <p:nvPr/>
        </p:nvSpPr>
        <p:spPr>
          <a:xfrm>
            <a:off x="8430768" y="2103120"/>
            <a:ext cx="566928" cy="566928"/>
          </a:xfrm>
          <a:prstGeom prst="roundRect">
            <a:avLst>
              <a:gd name="adj" fmla="val 45161"/>
            </a:avLst>
          </a:prstGeom>
          <a:solidFill>
            <a:srgbClr val="38BDF8">
              <a:alpha val="16000"/>
            </a:srgbClr>
          </a:solidFill>
          <a:ln w="12700">
            <a:solidFill>
              <a:srgbClr val="38BDF8">
                <a:alpha val="40000"/>
              </a:srgbClr>
            </a:solidFill>
            <a:prstDash val="solid"/>
          </a:ln>
        </p:spPr>
      </p:sp>
      <p:pic>
        <p:nvPicPr>
          <p:cNvPr id="16" name="Image 2" descr="preencoded.png">    </p:cNvPr>
          <p:cNvPicPr>
            <a:picLocks noChangeAspect="1"/>
          </p:cNvPicPr>
          <p:nvPr/>
        </p:nvPicPr>
        <p:blipFill>
          <a:blip r:embed="rId3"/>
          <a:stretch>
            <a:fillRect/>
          </a:stretch>
        </p:blipFill>
        <p:spPr>
          <a:xfrm>
            <a:off x="8561161" y="2233513"/>
            <a:ext cx="306141" cy="306141"/>
          </a:xfrm>
          <a:prstGeom prst="rect">
            <a:avLst/>
          </a:prstGeom>
        </p:spPr>
      </p:pic>
      <p:sp>
        <p:nvSpPr>
          <p:cNvPr id="17" name="Text 12"/>
          <p:cNvSpPr txBox="1"/>
          <p:nvPr/>
        </p:nvSpPr>
        <p:spPr>
          <a:xfrm>
            <a:off x="8430768" y="2834640"/>
            <a:ext cx="2752344" cy="5486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Un dispositif explicable</a:t>
            </a:r>
            <a:endParaRPr lang="en-US" sz="1500" dirty="0"/>
          </a:p>
        </p:txBody>
      </p:sp>
      <p:sp>
        <p:nvSpPr>
          <p:cNvPr id="18" name="Text 13"/>
          <p:cNvSpPr txBox="1"/>
          <p:nvPr/>
        </p:nvSpPr>
        <p:spPr>
          <a:xfrm>
            <a:off x="8430768" y="3429000"/>
            <a:ext cx="2752344" cy="1005840"/>
          </a:xfrm>
          <a:prstGeom prst="rect">
            <a:avLst/>
          </a:prstGeom>
          <a:noFill/>
          <a:ln/>
        </p:spPr>
        <p:txBody>
          <a:bodyPr wrap="square" lIns="0" tIns="0" rIns="0" bIns="0" rtlCol="0" anchor="t"/>
          <a:lstStyle/>
          <a:p>
            <a:pPr indent="0" marL="0">
              <a:lnSpc>
                <a:spcPts val="1700"/>
              </a:lnSpc>
              <a:buNone/>
            </a:pPr>
            <a:r>
              <a:rPr lang="en-US" sz="1150" dirty="0">
                <a:solidFill>
                  <a:srgbClr val="93A1BC"/>
                </a:solidFill>
                <a:latin typeface="Calibri" pitchFamily="34" charset="0"/>
                <a:ea typeface="Calibri" pitchFamily="34" charset="-122"/>
                <a:cs typeface="Calibri" pitchFamily="34" charset="-120"/>
              </a:rPr>
              <a:t>Aucune décision ne repose sur un modèle opaque. Chaque alerte se justifie règle en main devant un inspecteur.</a:t>
            </a:r>
            <a:endParaRPr lang="en-US" sz="1150" dirty="0"/>
          </a:p>
        </p:txBody>
      </p:sp>
      <p:sp>
        <p:nvSpPr>
          <p:cNvPr id="19" name="Shape 14"/>
          <p:cNvSpPr/>
          <p:nvPr/>
        </p:nvSpPr>
        <p:spPr>
          <a:xfrm>
            <a:off x="685800" y="4846320"/>
            <a:ext cx="10817352" cy="1051560"/>
          </a:xfrm>
          <a:prstGeom prst="roundRect">
            <a:avLst>
              <a:gd name="adj" fmla="val 7826"/>
            </a:avLst>
          </a:prstGeom>
          <a:solidFill>
            <a:srgbClr val="131C2E"/>
          </a:solidFill>
          <a:ln w="12700">
            <a:solidFill>
              <a:srgbClr val="1F2A40"/>
            </a:solidFill>
            <a:prstDash val="solid"/>
          </a:ln>
        </p:spPr>
      </p:sp>
      <p:sp>
        <p:nvSpPr>
          <p:cNvPr id="20" name="Text 15"/>
          <p:cNvSpPr txBox="1"/>
          <p:nvPr/>
        </p:nvSpPr>
        <p:spPr>
          <a:xfrm>
            <a:off x="1097280" y="5138928"/>
            <a:ext cx="10058400" cy="457200"/>
          </a:xfrm>
          <a:prstGeom prst="rect">
            <a:avLst/>
          </a:prstGeom>
          <a:noFill/>
          <a:ln/>
        </p:spPr>
        <p:txBody>
          <a:bodyPr wrap="square" lIns="0" tIns="0" rIns="0" bIns="0" rtlCol="0" anchor="t"/>
          <a:lstStyle/>
          <a:p>
            <a:pPr indent="0" marL="0">
              <a:buNone/>
            </a:pPr>
            <a:r>
              <a:rPr lang="en-US" sz="1350" dirty="0">
                <a:solidFill>
                  <a:srgbClr val="E7ECF6"/>
                </a:solidFill>
                <a:latin typeface="Calibri" pitchFamily="34" charset="0"/>
                <a:ea typeface="Calibri" pitchFamily="34" charset="-122"/>
                <a:cs typeface="Calibri" pitchFamily="34" charset="-120"/>
              </a:rPr>
              <a:t>Chaque bénéfice se mesure sur des indicateurs convenus avec vous avant le pilote, puis suivis en comité.</a:t>
            </a:r>
            <a:endParaRPr lang="en-US" sz="1350" dirty="0"/>
          </a:p>
        </p:txBody>
      </p:sp>
      <p:sp>
        <p:nvSpPr>
          <p:cNvPr id="21" name="Text 16"/>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22" name="Text 17"/>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INTERLOCUTEURS</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À qui le module rend service</a:t>
            </a:r>
            <a:endParaRPr lang="en-US" sz="3100" dirty="0"/>
          </a:p>
        </p:txBody>
      </p:sp>
      <p:sp>
        <p:nvSpPr>
          <p:cNvPr id="4" name="Shape 2"/>
          <p:cNvSpPr/>
          <p:nvPr/>
        </p:nvSpPr>
        <p:spPr>
          <a:xfrm>
            <a:off x="685800" y="1783080"/>
            <a:ext cx="10817352" cy="960120"/>
          </a:xfrm>
          <a:prstGeom prst="roundRect">
            <a:avLst>
              <a:gd name="adj" fmla="val 8571"/>
            </a:avLst>
          </a:prstGeom>
          <a:solidFill>
            <a:srgbClr val="0E1523"/>
          </a:solidFill>
          <a:ln w="12700">
            <a:solidFill>
              <a:srgbClr val="1F2A40"/>
            </a:solidFill>
            <a:prstDash val="solid"/>
          </a:ln>
        </p:spPr>
      </p:sp>
      <p:sp>
        <p:nvSpPr>
          <p:cNvPr id="5" name="Shape 3"/>
          <p:cNvSpPr/>
          <p:nvPr/>
        </p:nvSpPr>
        <p:spPr>
          <a:xfrm>
            <a:off x="1005840" y="1984248"/>
            <a:ext cx="548640" cy="548640"/>
          </a:xfrm>
          <a:prstGeom prst="roundRect">
            <a:avLst>
              <a:gd name="adj" fmla="val 46667"/>
            </a:avLst>
          </a:prstGeom>
          <a:solidFill>
            <a:srgbClr val="38BDF8">
              <a:alpha val="16000"/>
            </a:srgbClr>
          </a:solidFill>
          <a:ln w="12700">
            <a:solidFill>
              <a:srgbClr val="38BDF8">
                <a:alpha val="40000"/>
              </a:srgbClr>
            </a:solidFill>
            <a:prstDash val="solid"/>
          </a:ln>
        </p:spPr>
      </p:sp>
      <p:pic>
        <p:nvPicPr>
          <p:cNvPr id="6" name="Image 0" descr="preencoded.png">    </p:cNvPr>
          <p:cNvPicPr>
            <a:picLocks noChangeAspect="1"/>
          </p:cNvPicPr>
          <p:nvPr/>
        </p:nvPicPr>
        <p:blipFill>
          <a:blip r:embed="rId1"/>
          <a:stretch>
            <a:fillRect/>
          </a:stretch>
        </p:blipFill>
        <p:spPr>
          <a:xfrm>
            <a:off x="1132027" y="2110435"/>
            <a:ext cx="296266" cy="296266"/>
          </a:xfrm>
          <a:prstGeom prst="rect">
            <a:avLst/>
          </a:prstGeom>
        </p:spPr>
      </p:pic>
      <p:sp>
        <p:nvSpPr>
          <p:cNvPr id="7" name="Text 4"/>
          <p:cNvSpPr txBox="1"/>
          <p:nvPr/>
        </p:nvSpPr>
        <p:spPr>
          <a:xfrm>
            <a:off x="1737360" y="2093976"/>
            <a:ext cx="3566160" cy="34747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Directeur de la Conformité / RCCI</a:t>
            </a:r>
            <a:endParaRPr lang="en-US" sz="1400" dirty="0"/>
          </a:p>
        </p:txBody>
      </p:sp>
      <p:sp>
        <p:nvSpPr>
          <p:cNvPr id="8" name="Text 5"/>
          <p:cNvSpPr txBox="1"/>
          <p:nvPr/>
        </p:nvSpPr>
        <p:spPr>
          <a:xfrm>
            <a:off x="5440680" y="2057400"/>
            <a:ext cx="5760720" cy="45720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Démontrer au superviseur et au conseil que le dispositif LBC/FT est effectif, mesuré et documenté.</a:t>
            </a:r>
            <a:endParaRPr lang="en-US" sz="1200" dirty="0"/>
          </a:p>
        </p:txBody>
      </p:sp>
      <p:sp>
        <p:nvSpPr>
          <p:cNvPr id="9" name="Shape 6"/>
          <p:cNvSpPr/>
          <p:nvPr/>
        </p:nvSpPr>
        <p:spPr>
          <a:xfrm>
            <a:off x="685800" y="2916936"/>
            <a:ext cx="10817352" cy="960120"/>
          </a:xfrm>
          <a:prstGeom prst="roundRect">
            <a:avLst>
              <a:gd name="adj" fmla="val 8571"/>
            </a:avLst>
          </a:prstGeom>
          <a:solidFill>
            <a:srgbClr val="0E1523"/>
          </a:solidFill>
          <a:ln w="12700">
            <a:solidFill>
              <a:srgbClr val="1F2A40"/>
            </a:solidFill>
            <a:prstDash val="solid"/>
          </a:ln>
        </p:spPr>
      </p:sp>
      <p:sp>
        <p:nvSpPr>
          <p:cNvPr id="10" name="Shape 7"/>
          <p:cNvSpPr/>
          <p:nvPr/>
        </p:nvSpPr>
        <p:spPr>
          <a:xfrm>
            <a:off x="1005840" y="3118104"/>
            <a:ext cx="548640" cy="548640"/>
          </a:xfrm>
          <a:prstGeom prst="roundRect">
            <a:avLst>
              <a:gd name="adj" fmla="val 46667"/>
            </a:avLst>
          </a:prstGeom>
          <a:solidFill>
            <a:srgbClr val="A78BFA">
              <a:alpha val="16000"/>
            </a:srgbClr>
          </a:solidFill>
          <a:ln w="12700">
            <a:solidFill>
              <a:srgbClr val="A78BFA">
                <a:alpha val="40000"/>
              </a:srgbClr>
            </a:solidFill>
            <a:prstDash val="solid"/>
          </a:ln>
        </p:spPr>
      </p:sp>
      <p:pic>
        <p:nvPicPr>
          <p:cNvPr id="11" name="Image 1" descr="preencoded.png">    </p:cNvPr>
          <p:cNvPicPr>
            <a:picLocks noChangeAspect="1"/>
          </p:cNvPicPr>
          <p:nvPr/>
        </p:nvPicPr>
        <p:blipFill>
          <a:blip r:embed="rId2"/>
          <a:stretch>
            <a:fillRect/>
          </a:stretch>
        </p:blipFill>
        <p:spPr>
          <a:xfrm>
            <a:off x="1132027" y="3244291"/>
            <a:ext cx="296266" cy="296266"/>
          </a:xfrm>
          <a:prstGeom prst="rect">
            <a:avLst/>
          </a:prstGeom>
        </p:spPr>
      </p:pic>
      <p:sp>
        <p:nvSpPr>
          <p:cNvPr id="12" name="Text 8"/>
          <p:cNvSpPr txBox="1"/>
          <p:nvPr/>
        </p:nvSpPr>
        <p:spPr>
          <a:xfrm>
            <a:off x="1737360" y="3227832"/>
            <a:ext cx="3566160" cy="34747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Responsable du Contrôle Permanent</a:t>
            </a:r>
            <a:endParaRPr lang="en-US" sz="1400" dirty="0"/>
          </a:p>
        </p:txBody>
      </p:sp>
      <p:sp>
        <p:nvSpPr>
          <p:cNvPr id="13" name="Text 9"/>
          <p:cNvSpPr txBox="1"/>
          <p:nvPr/>
        </p:nvSpPr>
        <p:spPr>
          <a:xfrm>
            <a:off x="5440680" y="3191256"/>
            <a:ext cx="5760720" cy="45720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Exécuter et tracer les contrôles de second niveau sans reconstruire un classeur à chaque campagne.</a:t>
            </a:r>
            <a:endParaRPr lang="en-US" sz="1200" dirty="0"/>
          </a:p>
        </p:txBody>
      </p:sp>
      <p:sp>
        <p:nvSpPr>
          <p:cNvPr id="14" name="Shape 10"/>
          <p:cNvSpPr/>
          <p:nvPr/>
        </p:nvSpPr>
        <p:spPr>
          <a:xfrm>
            <a:off x="685800" y="4050792"/>
            <a:ext cx="10817352" cy="960120"/>
          </a:xfrm>
          <a:prstGeom prst="roundRect">
            <a:avLst>
              <a:gd name="adj" fmla="val 8571"/>
            </a:avLst>
          </a:prstGeom>
          <a:solidFill>
            <a:srgbClr val="0E1523"/>
          </a:solidFill>
          <a:ln w="12700">
            <a:solidFill>
              <a:srgbClr val="1F2A40"/>
            </a:solidFill>
            <a:prstDash val="solid"/>
          </a:ln>
        </p:spPr>
      </p:sp>
      <p:sp>
        <p:nvSpPr>
          <p:cNvPr id="15" name="Shape 11"/>
          <p:cNvSpPr/>
          <p:nvPr/>
        </p:nvSpPr>
        <p:spPr>
          <a:xfrm>
            <a:off x="1005840" y="4251960"/>
            <a:ext cx="548640" cy="548640"/>
          </a:xfrm>
          <a:prstGeom prst="roundRect">
            <a:avLst>
              <a:gd name="adj" fmla="val 46667"/>
            </a:avLst>
          </a:prstGeom>
          <a:solidFill>
            <a:srgbClr val="38BDF8">
              <a:alpha val="16000"/>
            </a:srgbClr>
          </a:solidFill>
          <a:ln w="12700">
            <a:solidFill>
              <a:srgbClr val="38BDF8">
                <a:alpha val="40000"/>
              </a:srgbClr>
            </a:solidFill>
            <a:prstDash val="solid"/>
          </a:ln>
        </p:spPr>
      </p:sp>
      <p:pic>
        <p:nvPicPr>
          <p:cNvPr id="16" name="Image 2" descr="preencoded.png">    </p:cNvPr>
          <p:cNvPicPr>
            <a:picLocks noChangeAspect="1"/>
          </p:cNvPicPr>
          <p:nvPr/>
        </p:nvPicPr>
        <p:blipFill>
          <a:blip r:embed="rId3"/>
          <a:stretch>
            <a:fillRect/>
          </a:stretch>
        </p:blipFill>
        <p:spPr>
          <a:xfrm>
            <a:off x="1132027" y="4378147"/>
            <a:ext cx="296266" cy="296266"/>
          </a:xfrm>
          <a:prstGeom prst="rect">
            <a:avLst/>
          </a:prstGeom>
        </p:spPr>
      </p:pic>
      <p:sp>
        <p:nvSpPr>
          <p:cNvPr id="17" name="Text 12"/>
          <p:cNvSpPr txBox="1"/>
          <p:nvPr/>
        </p:nvSpPr>
        <p:spPr>
          <a:xfrm>
            <a:off x="1737360" y="4361688"/>
            <a:ext cx="3566160" cy="34747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Directeur des Risques</a:t>
            </a:r>
            <a:endParaRPr lang="en-US" sz="1400" dirty="0"/>
          </a:p>
        </p:txBody>
      </p:sp>
      <p:sp>
        <p:nvSpPr>
          <p:cNvPr id="18" name="Text 13"/>
          <p:cNvSpPr txBox="1"/>
          <p:nvPr/>
        </p:nvSpPr>
        <p:spPr>
          <a:xfrm>
            <a:off x="5440680" y="4325112"/>
            <a:ext cx="5760720" cy="45720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Disposer d'une cartographie des risques clients alimentée par des données à jour, pas par une enquête annuelle.</a:t>
            </a:r>
            <a:endParaRPr lang="en-US" sz="1200" dirty="0"/>
          </a:p>
        </p:txBody>
      </p:sp>
      <p:sp>
        <p:nvSpPr>
          <p:cNvPr id="19" name="Shape 14"/>
          <p:cNvSpPr/>
          <p:nvPr/>
        </p:nvSpPr>
        <p:spPr>
          <a:xfrm>
            <a:off x="685800" y="5184648"/>
            <a:ext cx="10817352" cy="960120"/>
          </a:xfrm>
          <a:prstGeom prst="roundRect">
            <a:avLst>
              <a:gd name="adj" fmla="val 8571"/>
            </a:avLst>
          </a:prstGeom>
          <a:solidFill>
            <a:srgbClr val="0E1523"/>
          </a:solidFill>
          <a:ln w="12700">
            <a:solidFill>
              <a:srgbClr val="1F2A40"/>
            </a:solidFill>
            <a:prstDash val="solid"/>
          </a:ln>
        </p:spPr>
      </p:sp>
      <p:sp>
        <p:nvSpPr>
          <p:cNvPr id="20" name="Shape 15"/>
          <p:cNvSpPr/>
          <p:nvPr/>
        </p:nvSpPr>
        <p:spPr>
          <a:xfrm>
            <a:off x="1005840" y="5385816"/>
            <a:ext cx="548640" cy="548640"/>
          </a:xfrm>
          <a:prstGeom prst="roundRect">
            <a:avLst>
              <a:gd name="adj" fmla="val 46667"/>
            </a:avLst>
          </a:prstGeom>
          <a:solidFill>
            <a:srgbClr val="A78BFA">
              <a:alpha val="16000"/>
            </a:srgbClr>
          </a:solidFill>
          <a:ln w="12700">
            <a:solidFill>
              <a:srgbClr val="A78BFA">
                <a:alpha val="40000"/>
              </a:srgbClr>
            </a:solidFill>
            <a:prstDash val="solid"/>
          </a:ln>
        </p:spPr>
      </p:sp>
      <p:pic>
        <p:nvPicPr>
          <p:cNvPr id="21" name="Image 3" descr="preencoded.png">    </p:cNvPr>
          <p:cNvPicPr>
            <a:picLocks noChangeAspect="1"/>
          </p:cNvPicPr>
          <p:nvPr/>
        </p:nvPicPr>
        <p:blipFill>
          <a:blip r:embed="rId4"/>
          <a:stretch>
            <a:fillRect/>
          </a:stretch>
        </p:blipFill>
        <p:spPr>
          <a:xfrm>
            <a:off x="1132027" y="5512003"/>
            <a:ext cx="296266" cy="296266"/>
          </a:xfrm>
          <a:prstGeom prst="rect">
            <a:avLst/>
          </a:prstGeom>
        </p:spPr>
      </p:pic>
      <p:sp>
        <p:nvSpPr>
          <p:cNvPr id="22" name="Text 16"/>
          <p:cNvSpPr txBox="1"/>
          <p:nvPr/>
        </p:nvSpPr>
        <p:spPr>
          <a:xfrm>
            <a:off x="1737360" y="5495544"/>
            <a:ext cx="3566160" cy="34747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Directeur des Systèmes d'Information</a:t>
            </a:r>
            <a:endParaRPr lang="en-US" sz="1400" dirty="0"/>
          </a:p>
        </p:txBody>
      </p:sp>
      <p:sp>
        <p:nvSpPr>
          <p:cNvPr id="23" name="Text 17"/>
          <p:cNvSpPr txBox="1"/>
          <p:nvPr/>
        </p:nvSpPr>
        <p:spPr>
          <a:xfrm>
            <a:off x="5440680" y="5458968"/>
            <a:ext cx="5760720" cy="45720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Ajouter une brique de conformité sans refonte du core banking, avec une intégration par fichiers ou API.</a:t>
            </a:r>
            <a:endParaRPr lang="en-US" sz="1200" dirty="0"/>
          </a:p>
        </p:txBody>
      </p:sp>
      <p:sp>
        <p:nvSpPr>
          <p:cNvPr id="24" name="Text 18"/>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25" name="Text 19"/>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POSITIONNEMENT</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Pourquoi Konformix plutôt qu'une plateforme mondiale</a:t>
            </a:r>
            <a:endParaRPr lang="en-US" sz="3100" dirty="0"/>
          </a:p>
        </p:txBody>
      </p:sp>
      <p:sp>
        <p:nvSpPr>
          <p:cNvPr id="4" name="Shape 2"/>
          <p:cNvSpPr/>
          <p:nvPr/>
        </p:nvSpPr>
        <p:spPr>
          <a:xfrm>
            <a:off x="685800" y="1828800"/>
            <a:ext cx="5257800" cy="2057400"/>
          </a:xfrm>
          <a:prstGeom prst="roundRect">
            <a:avLst>
              <a:gd name="adj" fmla="val 4000"/>
            </a:avLst>
          </a:prstGeom>
          <a:solidFill>
            <a:srgbClr val="0E1523"/>
          </a:solidFill>
          <a:ln w="12700">
            <a:solidFill>
              <a:srgbClr val="1F2A40"/>
            </a:solidFill>
            <a:prstDash val="solid"/>
          </a:ln>
        </p:spPr>
      </p:sp>
      <p:sp>
        <p:nvSpPr>
          <p:cNvPr id="5" name="Shape 3"/>
          <p:cNvSpPr/>
          <p:nvPr/>
        </p:nvSpPr>
        <p:spPr>
          <a:xfrm>
            <a:off x="1005840" y="2121408"/>
            <a:ext cx="566928" cy="566928"/>
          </a:xfrm>
          <a:prstGeom prst="roundRect">
            <a:avLst>
              <a:gd name="adj" fmla="val 45161"/>
            </a:avLst>
          </a:prstGeom>
          <a:solidFill>
            <a:srgbClr val="38BDF8">
              <a:alpha val="16000"/>
            </a:srgbClr>
          </a:solidFill>
          <a:ln w="12700">
            <a:solidFill>
              <a:srgbClr val="38BDF8">
                <a:alpha val="40000"/>
              </a:srgbClr>
            </a:solidFill>
            <a:prstDash val="solid"/>
          </a:ln>
        </p:spPr>
      </p:sp>
      <p:pic>
        <p:nvPicPr>
          <p:cNvPr id="6" name="Image 0" descr="preencoded.png">    </p:cNvPr>
          <p:cNvPicPr>
            <a:picLocks noChangeAspect="1"/>
          </p:cNvPicPr>
          <p:nvPr/>
        </p:nvPicPr>
        <p:blipFill>
          <a:blip r:embed="rId1"/>
          <a:stretch>
            <a:fillRect/>
          </a:stretch>
        </p:blipFill>
        <p:spPr>
          <a:xfrm>
            <a:off x="1136233" y="2251801"/>
            <a:ext cx="306141" cy="306141"/>
          </a:xfrm>
          <a:prstGeom prst="rect">
            <a:avLst/>
          </a:prstGeom>
        </p:spPr>
      </p:pic>
      <p:sp>
        <p:nvSpPr>
          <p:cNvPr id="7" name="Text 4"/>
          <p:cNvSpPr txBox="1"/>
          <p:nvPr/>
        </p:nvSpPr>
        <p:spPr>
          <a:xfrm>
            <a:off x="1737360" y="2121408"/>
            <a:ext cx="3886200" cy="502920"/>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Calibré sur la réglementation UEMOA</a:t>
            </a:r>
            <a:endParaRPr lang="en-US" sz="1500" dirty="0"/>
          </a:p>
        </p:txBody>
      </p:sp>
      <p:sp>
        <p:nvSpPr>
          <p:cNvPr id="8" name="Text 5"/>
          <p:cNvSpPr txBox="1"/>
          <p:nvPr/>
        </p:nvSpPr>
        <p:spPr>
          <a:xfrm>
            <a:off x="1737360" y="2697480"/>
            <a:ext cx="3886200" cy="100584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Référentiels livrés pré-paramétrés sur les instructions BCEAO de mars 2025 et la loi uniforme de 2023, pas une réglementation européenne adaptée après coup.</a:t>
            </a:r>
            <a:endParaRPr lang="en-US" sz="1200" dirty="0"/>
          </a:p>
        </p:txBody>
      </p:sp>
      <p:sp>
        <p:nvSpPr>
          <p:cNvPr id="9" name="Shape 6"/>
          <p:cNvSpPr/>
          <p:nvPr/>
        </p:nvSpPr>
        <p:spPr>
          <a:xfrm>
            <a:off x="6245352" y="1828800"/>
            <a:ext cx="5257800" cy="2057400"/>
          </a:xfrm>
          <a:prstGeom prst="roundRect">
            <a:avLst>
              <a:gd name="adj" fmla="val 4000"/>
            </a:avLst>
          </a:prstGeom>
          <a:solidFill>
            <a:srgbClr val="0E1523"/>
          </a:solidFill>
          <a:ln w="12700">
            <a:solidFill>
              <a:srgbClr val="1F2A40"/>
            </a:solidFill>
            <a:prstDash val="solid"/>
          </a:ln>
        </p:spPr>
      </p:sp>
      <p:sp>
        <p:nvSpPr>
          <p:cNvPr id="10" name="Shape 7"/>
          <p:cNvSpPr/>
          <p:nvPr/>
        </p:nvSpPr>
        <p:spPr>
          <a:xfrm>
            <a:off x="6565392" y="2121408"/>
            <a:ext cx="566928" cy="566928"/>
          </a:xfrm>
          <a:prstGeom prst="roundRect">
            <a:avLst>
              <a:gd name="adj" fmla="val 45161"/>
            </a:avLst>
          </a:prstGeom>
          <a:solidFill>
            <a:srgbClr val="A78BFA">
              <a:alpha val="16000"/>
            </a:srgbClr>
          </a:solidFill>
          <a:ln w="12700">
            <a:solidFill>
              <a:srgbClr val="A78BFA">
                <a:alpha val="40000"/>
              </a:srgbClr>
            </a:solidFill>
            <a:prstDash val="solid"/>
          </a:ln>
        </p:spPr>
      </p:sp>
      <p:pic>
        <p:nvPicPr>
          <p:cNvPr id="11" name="Image 1" descr="preencoded.png">    </p:cNvPr>
          <p:cNvPicPr>
            <a:picLocks noChangeAspect="1"/>
          </p:cNvPicPr>
          <p:nvPr/>
        </p:nvPicPr>
        <p:blipFill>
          <a:blip r:embed="rId2"/>
          <a:stretch>
            <a:fillRect/>
          </a:stretch>
        </p:blipFill>
        <p:spPr>
          <a:xfrm>
            <a:off x="6695785" y="2251801"/>
            <a:ext cx="306141" cy="306141"/>
          </a:xfrm>
          <a:prstGeom prst="rect">
            <a:avLst/>
          </a:prstGeom>
        </p:spPr>
      </p:pic>
      <p:sp>
        <p:nvSpPr>
          <p:cNvPr id="12" name="Text 8"/>
          <p:cNvSpPr txBox="1"/>
          <p:nvPr/>
        </p:nvSpPr>
        <p:spPr>
          <a:xfrm>
            <a:off x="7296912" y="2121408"/>
            <a:ext cx="3886200" cy="502920"/>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Un coût aligné sur les budgets locaux</a:t>
            </a:r>
            <a:endParaRPr lang="en-US" sz="1500" dirty="0"/>
          </a:p>
        </p:txBody>
      </p:sp>
      <p:sp>
        <p:nvSpPr>
          <p:cNvPr id="13" name="Text 9"/>
          <p:cNvSpPr txBox="1"/>
          <p:nvPr/>
        </p:nvSpPr>
        <p:spPr>
          <a:xfrm>
            <a:off x="7296912" y="2697480"/>
            <a:ext cx="3886200" cy="100584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Nous vendons en FCFA, avec un déploiement initial mesuré en semaines quand les projets internationaux se comptent en mois.</a:t>
            </a:r>
            <a:endParaRPr lang="en-US" sz="1200" dirty="0"/>
          </a:p>
        </p:txBody>
      </p:sp>
      <p:sp>
        <p:nvSpPr>
          <p:cNvPr id="14" name="Shape 10"/>
          <p:cNvSpPr/>
          <p:nvPr/>
        </p:nvSpPr>
        <p:spPr>
          <a:xfrm>
            <a:off x="685800" y="4187952"/>
            <a:ext cx="5257800" cy="2057400"/>
          </a:xfrm>
          <a:prstGeom prst="roundRect">
            <a:avLst>
              <a:gd name="adj" fmla="val 4000"/>
            </a:avLst>
          </a:prstGeom>
          <a:solidFill>
            <a:srgbClr val="0E1523"/>
          </a:solidFill>
          <a:ln w="12700">
            <a:solidFill>
              <a:srgbClr val="1F2A40"/>
            </a:solidFill>
            <a:prstDash val="solid"/>
          </a:ln>
        </p:spPr>
      </p:sp>
      <p:sp>
        <p:nvSpPr>
          <p:cNvPr id="15" name="Shape 11"/>
          <p:cNvSpPr/>
          <p:nvPr/>
        </p:nvSpPr>
        <p:spPr>
          <a:xfrm>
            <a:off x="1005840" y="4480560"/>
            <a:ext cx="566928" cy="566928"/>
          </a:xfrm>
          <a:prstGeom prst="roundRect">
            <a:avLst>
              <a:gd name="adj" fmla="val 45161"/>
            </a:avLst>
          </a:prstGeom>
          <a:solidFill>
            <a:srgbClr val="38BDF8">
              <a:alpha val="16000"/>
            </a:srgbClr>
          </a:solidFill>
          <a:ln w="12700">
            <a:solidFill>
              <a:srgbClr val="38BDF8">
                <a:alpha val="40000"/>
              </a:srgbClr>
            </a:solidFill>
            <a:prstDash val="solid"/>
          </a:ln>
        </p:spPr>
      </p:sp>
      <p:pic>
        <p:nvPicPr>
          <p:cNvPr id="16" name="Image 2" descr="preencoded.png">    </p:cNvPr>
          <p:cNvPicPr>
            <a:picLocks noChangeAspect="1"/>
          </p:cNvPicPr>
          <p:nvPr/>
        </p:nvPicPr>
        <p:blipFill>
          <a:blip r:embed="rId3"/>
          <a:stretch>
            <a:fillRect/>
          </a:stretch>
        </p:blipFill>
        <p:spPr>
          <a:xfrm>
            <a:off x="1136233" y="4610953"/>
            <a:ext cx="306141" cy="306141"/>
          </a:xfrm>
          <a:prstGeom prst="rect">
            <a:avLst/>
          </a:prstGeom>
        </p:spPr>
      </p:pic>
      <p:sp>
        <p:nvSpPr>
          <p:cNvPr id="17" name="Text 12"/>
          <p:cNvSpPr txBox="1"/>
          <p:nvPr/>
        </p:nvSpPr>
        <p:spPr>
          <a:xfrm>
            <a:off x="1737360" y="4480560"/>
            <a:ext cx="3886200" cy="502920"/>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Vos données restent chez vous</a:t>
            </a:r>
            <a:endParaRPr lang="en-US" sz="1500" dirty="0"/>
          </a:p>
        </p:txBody>
      </p:sp>
      <p:sp>
        <p:nvSpPr>
          <p:cNvPr id="18" name="Text 13"/>
          <p:cNvSpPr txBox="1"/>
          <p:nvPr/>
        </p:nvSpPr>
        <p:spPr>
          <a:xfrm>
            <a:off x="1737360" y="5056632"/>
            <a:ext cx="3886200" cy="100584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Déploiement sur l'infrastructure de la banque ou en hébergement souverain régional. Aucune donnée client ne quitte le périmètre défini.</a:t>
            </a:r>
            <a:endParaRPr lang="en-US" sz="1200" dirty="0"/>
          </a:p>
        </p:txBody>
      </p:sp>
      <p:sp>
        <p:nvSpPr>
          <p:cNvPr id="19" name="Shape 14"/>
          <p:cNvSpPr/>
          <p:nvPr/>
        </p:nvSpPr>
        <p:spPr>
          <a:xfrm>
            <a:off x="6245352" y="4187952"/>
            <a:ext cx="5257800" cy="2057400"/>
          </a:xfrm>
          <a:prstGeom prst="roundRect">
            <a:avLst>
              <a:gd name="adj" fmla="val 4000"/>
            </a:avLst>
          </a:prstGeom>
          <a:solidFill>
            <a:srgbClr val="0E1523"/>
          </a:solidFill>
          <a:ln w="12700">
            <a:solidFill>
              <a:srgbClr val="1F2A40"/>
            </a:solidFill>
            <a:prstDash val="solid"/>
          </a:ln>
        </p:spPr>
      </p:sp>
      <p:sp>
        <p:nvSpPr>
          <p:cNvPr id="20" name="Shape 15"/>
          <p:cNvSpPr/>
          <p:nvPr/>
        </p:nvSpPr>
        <p:spPr>
          <a:xfrm>
            <a:off x="6565392" y="4480560"/>
            <a:ext cx="566928" cy="566928"/>
          </a:xfrm>
          <a:prstGeom prst="roundRect">
            <a:avLst>
              <a:gd name="adj" fmla="val 45161"/>
            </a:avLst>
          </a:prstGeom>
          <a:solidFill>
            <a:srgbClr val="A78BFA">
              <a:alpha val="16000"/>
            </a:srgbClr>
          </a:solidFill>
          <a:ln w="12700">
            <a:solidFill>
              <a:srgbClr val="A78BFA">
                <a:alpha val="40000"/>
              </a:srgbClr>
            </a:solidFill>
            <a:prstDash val="solid"/>
          </a:ln>
        </p:spPr>
      </p:sp>
      <p:pic>
        <p:nvPicPr>
          <p:cNvPr id="21" name="Image 3" descr="preencoded.png">    </p:cNvPr>
          <p:cNvPicPr>
            <a:picLocks noChangeAspect="1"/>
          </p:cNvPicPr>
          <p:nvPr/>
        </p:nvPicPr>
        <p:blipFill>
          <a:blip r:embed="rId4"/>
          <a:stretch>
            <a:fillRect/>
          </a:stretch>
        </p:blipFill>
        <p:spPr>
          <a:xfrm>
            <a:off x="6695785" y="4610953"/>
            <a:ext cx="306141" cy="306141"/>
          </a:xfrm>
          <a:prstGeom prst="rect">
            <a:avLst/>
          </a:prstGeom>
        </p:spPr>
      </p:pic>
      <p:sp>
        <p:nvSpPr>
          <p:cNvPr id="22" name="Text 16"/>
          <p:cNvSpPr txBox="1"/>
          <p:nvPr/>
        </p:nvSpPr>
        <p:spPr>
          <a:xfrm>
            <a:off x="7296912" y="4480560"/>
            <a:ext cx="3886200" cy="502920"/>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Une équipe qui a fait le métier</a:t>
            </a:r>
            <a:endParaRPr lang="en-US" sz="1500" dirty="0"/>
          </a:p>
        </p:txBody>
      </p:sp>
      <p:sp>
        <p:nvSpPr>
          <p:cNvPr id="23" name="Text 17"/>
          <p:cNvSpPr txBox="1"/>
          <p:nvPr/>
        </p:nvSpPr>
        <p:spPr>
          <a:xfrm>
            <a:off x="7296912" y="5056632"/>
            <a:ext cx="3886200" cy="1005840"/>
          </a:xfrm>
          <a:prstGeom prst="rect">
            <a:avLst/>
          </a:prstGeom>
          <a:noFill/>
          <a:ln/>
        </p:spPr>
        <p:txBody>
          <a:bodyPr wrap="square" lIns="0" tIns="0" rIns="0" bIns="0" rtlCol="0" anchor="t"/>
          <a:lstStyle/>
          <a:p>
            <a:pPr indent="0" marL="0">
              <a:lnSpc>
                <a:spcPts val="1700"/>
              </a:lnSpc>
              <a:buNone/>
            </a:pPr>
            <a:r>
              <a:rPr lang="en-US" sz="1200" dirty="0">
                <a:solidFill>
                  <a:srgbClr val="93A1BC"/>
                </a:solidFill>
                <a:latin typeface="Calibri" pitchFamily="34" charset="0"/>
                <a:ea typeface="Calibri" pitchFamily="34" charset="-122"/>
                <a:cs typeface="Calibri" pitchFamily="34" charset="-120"/>
              </a:rPr>
              <a:t>Konformix est fondée par des praticiens du contrôle permanent et de la conformité bancaire en Afrique de l'Ouest.</a:t>
            </a:r>
            <a:endParaRPr lang="en-US" sz="1200" dirty="0"/>
          </a:p>
        </p:txBody>
      </p:sp>
      <p:sp>
        <p:nvSpPr>
          <p:cNvPr id="24" name="Text 18"/>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25" name="Text 19"/>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LA DÉMARCHE</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Quatre étapes, un engagement progressif</a:t>
            </a:r>
            <a:endParaRPr lang="en-US" sz="3100" dirty="0"/>
          </a:p>
        </p:txBody>
      </p:sp>
      <p:sp>
        <p:nvSpPr>
          <p:cNvPr id="4" name="Shape 2"/>
          <p:cNvSpPr/>
          <p:nvPr/>
        </p:nvSpPr>
        <p:spPr>
          <a:xfrm>
            <a:off x="685800" y="1874520"/>
            <a:ext cx="2487168" cy="3063240"/>
          </a:xfrm>
          <a:prstGeom prst="roundRect">
            <a:avLst>
              <a:gd name="adj" fmla="val 3309"/>
            </a:avLst>
          </a:prstGeom>
          <a:solidFill>
            <a:srgbClr val="0E1523"/>
          </a:solidFill>
          <a:ln w="12700">
            <a:solidFill>
              <a:srgbClr val="38BDF8"/>
            </a:solidFill>
            <a:prstDash val="solid"/>
          </a:ln>
        </p:spPr>
      </p:sp>
      <p:sp>
        <p:nvSpPr>
          <p:cNvPr id="5" name="Text 3"/>
          <p:cNvSpPr txBox="1"/>
          <p:nvPr/>
        </p:nvSpPr>
        <p:spPr>
          <a:xfrm>
            <a:off x="978408" y="2103120"/>
            <a:ext cx="1901952" cy="457200"/>
          </a:xfrm>
          <a:prstGeom prst="rect">
            <a:avLst/>
          </a:prstGeom>
          <a:noFill/>
          <a:ln/>
        </p:spPr>
        <p:txBody>
          <a:bodyPr wrap="square" lIns="0" tIns="0" rIns="0" bIns="0" rtlCol="0" anchor="t"/>
          <a:lstStyle/>
          <a:p>
            <a:pPr indent="0" marL="0">
              <a:buNone/>
            </a:pPr>
            <a:r>
              <a:rPr lang="en-US" sz="2800" b="1" dirty="0">
                <a:solidFill>
                  <a:srgbClr val="38BDF8"/>
                </a:solidFill>
                <a:latin typeface="Cambria" pitchFamily="34" charset="0"/>
                <a:ea typeface="Cambria" pitchFamily="34" charset="-122"/>
                <a:cs typeface="Cambria" pitchFamily="34" charset="-120"/>
              </a:rPr>
              <a:t>01</a:t>
            </a:r>
            <a:endParaRPr lang="en-US" sz="2800" dirty="0"/>
          </a:p>
        </p:txBody>
      </p:sp>
      <p:sp>
        <p:nvSpPr>
          <p:cNvPr id="6" name="Text 4"/>
          <p:cNvSpPr txBox="1"/>
          <p:nvPr/>
        </p:nvSpPr>
        <p:spPr>
          <a:xfrm>
            <a:off x="978408" y="2633472"/>
            <a:ext cx="1901952" cy="54864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Diagnostic de fiabilité</a:t>
            </a:r>
            <a:endParaRPr lang="en-US" sz="1450" dirty="0"/>
          </a:p>
        </p:txBody>
      </p:sp>
      <p:sp>
        <p:nvSpPr>
          <p:cNvPr id="7" name="Text 5"/>
          <p:cNvSpPr txBox="1"/>
          <p:nvPr/>
        </p:nvSpPr>
        <p:spPr>
          <a:xfrm>
            <a:off x="978408" y="3246120"/>
            <a:ext cx="1901952" cy="256032"/>
          </a:xfrm>
          <a:prstGeom prst="rect">
            <a:avLst/>
          </a:prstGeom>
          <a:noFill/>
          <a:ln/>
        </p:spPr>
        <p:txBody>
          <a:bodyPr wrap="square" lIns="0" tIns="0" rIns="0" bIns="0" rtlCol="0" anchor="t"/>
          <a:lstStyle/>
          <a:p>
            <a:pPr indent="0" marL="0">
              <a:buNone/>
            </a:pPr>
            <a:r>
              <a:rPr lang="en-US" sz="1100" b="1" dirty="0">
                <a:solidFill>
                  <a:srgbClr val="34D399"/>
                </a:solidFill>
                <a:latin typeface="Calibri" pitchFamily="34" charset="0"/>
                <a:ea typeface="Calibri" pitchFamily="34" charset="-122"/>
                <a:cs typeface="Calibri" pitchFamily="34" charset="-120"/>
              </a:rPr>
              <a:t>2 semaines</a:t>
            </a:r>
            <a:endParaRPr lang="en-US" sz="1100" dirty="0"/>
          </a:p>
        </p:txBody>
      </p:sp>
      <p:sp>
        <p:nvSpPr>
          <p:cNvPr id="8" name="Text 6"/>
          <p:cNvSpPr txBox="1"/>
          <p:nvPr/>
        </p:nvSpPr>
        <p:spPr>
          <a:xfrm>
            <a:off x="978408" y="3611880"/>
            <a:ext cx="1901952" cy="118872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Mesure du taux de complétude réel sur un échantillon du référentiel, et chiffrage des anomalies.</a:t>
            </a:r>
            <a:endParaRPr lang="en-US" sz="1100" dirty="0"/>
          </a:p>
        </p:txBody>
      </p:sp>
      <p:sp>
        <p:nvSpPr>
          <p:cNvPr id="9" name="Shape 7"/>
          <p:cNvSpPr/>
          <p:nvPr/>
        </p:nvSpPr>
        <p:spPr>
          <a:xfrm>
            <a:off x="3465576" y="1874520"/>
            <a:ext cx="2487168" cy="3063240"/>
          </a:xfrm>
          <a:prstGeom prst="roundRect">
            <a:avLst>
              <a:gd name="adj" fmla="val 3309"/>
            </a:avLst>
          </a:prstGeom>
          <a:solidFill>
            <a:srgbClr val="0E1523"/>
          </a:solidFill>
          <a:ln w="12700">
            <a:solidFill>
              <a:srgbClr val="1F2A40"/>
            </a:solidFill>
            <a:prstDash val="solid"/>
          </a:ln>
        </p:spPr>
      </p:sp>
      <p:sp>
        <p:nvSpPr>
          <p:cNvPr id="10" name="Text 8"/>
          <p:cNvSpPr txBox="1"/>
          <p:nvPr/>
        </p:nvSpPr>
        <p:spPr>
          <a:xfrm>
            <a:off x="3758184" y="2103120"/>
            <a:ext cx="1901952" cy="457200"/>
          </a:xfrm>
          <a:prstGeom prst="rect">
            <a:avLst/>
          </a:prstGeom>
          <a:noFill/>
          <a:ln/>
        </p:spPr>
        <p:txBody>
          <a:bodyPr wrap="square" lIns="0" tIns="0" rIns="0" bIns="0" rtlCol="0" anchor="t"/>
          <a:lstStyle/>
          <a:p>
            <a:pPr indent="0" marL="0">
              <a:buNone/>
            </a:pPr>
            <a:r>
              <a:rPr lang="en-US" sz="2800" b="1" dirty="0">
                <a:solidFill>
                  <a:srgbClr val="A78BFA"/>
                </a:solidFill>
                <a:latin typeface="Cambria" pitchFamily="34" charset="0"/>
                <a:ea typeface="Cambria" pitchFamily="34" charset="-122"/>
                <a:cs typeface="Cambria" pitchFamily="34" charset="-120"/>
              </a:rPr>
              <a:t>02</a:t>
            </a:r>
            <a:endParaRPr lang="en-US" sz="2800" dirty="0"/>
          </a:p>
        </p:txBody>
      </p:sp>
      <p:sp>
        <p:nvSpPr>
          <p:cNvPr id="11" name="Text 9"/>
          <p:cNvSpPr txBox="1"/>
          <p:nvPr/>
        </p:nvSpPr>
        <p:spPr>
          <a:xfrm>
            <a:off x="3758184" y="2633472"/>
            <a:ext cx="1901952" cy="54864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Pilote cadré</a:t>
            </a:r>
            <a:endParaRPr lang="en-US" sz="1450" dirty="0"/>
          </a:p>
        </p:txBody>
      </p:sp>
      <p:sp>
        <p:nvSpPr>
          <p:cNvPr id="12" name="Text 10"/>
          <p:cNvSpPr txBox="1"/>
          <p:nvPr/>
        </p:nvSpPr>
        <p:spPr>
          <a:xfrm>
            <a:off x="3758184" y="3246120"/>
            <a:ext cx="1901952" cy="256032"/>
          </a:xfrm>
          <a:prstGeom prst="rect">
            <a:avLst/>
          </a:prstGeom>
          <a:noFill/>
          <a:ln/>
        </p:spPr>
        <p:txBody>
          <a:bodyPr wrap="square" lIns="0" tIns="0" rIns="0" bIns="0" rtlCol="0" anchor="t"/>
          <a:lstStyle/>
          <a:p>
            <a:pPr indent="0" marL="0">
              <a:buNone/>
            </a:pPr>
            <a:r>
              <a:rPr lang="en-US" sz="1100" b="1" dirty="0">
                <a:solidFill>
                  <a:srgbClr val="34D399"/>
                </a:solidFill>
                <a:latin typeface="Calibri" pitchFamily="34" charset="0"/>
                <a:ea typeface="Calibri" pitchFamily="34" charset="-122"/>
                <a:cs typeface="Calibri" pitchFamily="34" charset="-120"/>
              </a:rPr>
              <a:t>6 à 8 semaines</a:t>
            </a:r>
            <a:endParaRPr lang="en-US" sz="1100" dirty="0"/>
          </a:p>
        </p:txBody>
      </p:sp>
      <p:sp>
        <p:nvSpPr>
          <p:cNvPr id="13" name="Text 11"/>
          <p:cNvSpPr txBox="1"/>
          <p:nvPr/>
        </p:nvSpPr>
        <p:spPr>
          <a:xfrm>
            <a:off x="3758184" y="3611880"/>
            <a:ext cx="1901952" cy="118872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Déploiement sur un segment de clientèle ou un réseau d'agences, avec des objectifs chiffrés convenus à l'avance.</a:t>
            </a:r>
            <a:endParaRPr lang="en-US" sz="1100" dirty="0"/>
          </a:p>
        </p:txBody>
      </p:sp>
      <p:sp>
        <p:nvSpPr>
          <p:cNvPr id="14" name="Shape 12"/>
          <p:cNvSpPr/>
          <p:nvPr/>
        </p:nvSpPr>
        <p:spPr>
          <a:xfrm>
            <a:off x="6245352" y="1874520"/>
            <a:ext cx="2487168" cy="3063240"/>
          </a:xfrm>
          <a:prstGeom prst="roundRect">
            <a:avLst>
              <a:gd name="adj" fmla="val 3309"/>
            </a:avLst>
          </a:prstGeom>
          <a:solidFill>
            <a:srgbClr val="0E1523"/>
          </a:solidFill>
          <a:ln w="12700">
            <a:solidFill>
              <a:srgbClr val="1F2A40"/>
            </a:solidFill>
            <a:prstDash val="solid"/>
          </a:ln>
        </p:spPr>
      </p:sp>
      <p:sp>
        <p:nvSpPr>
          <p:cNvPr id="15" name="Text 13"/>
          <p:cNvSpPr txBox="1"/>
          <p:nvPr/>
        </p:nvSpPr>
        <p:spPr>
          <a:xfrm>
            <a:off x="6537960" y="2103120"/>
            <a:ext cx="1901952" cy="457200"/>
          </a:xfrm>
          <a:prstGeom prst="rect">
            <a:avLst/>
          </a:prstGeom>
          <a:noFill/>
          <a:ln/>
        </p:spPr>
        <p:txBody>
          <a:bodyPr wrap="square" lIns="0" tIns="0" rIns="0" bIns="0" rtlCol="0" anchor="t"/>
          <a:lstStyle/>
          <a:p>
            <a:pPr indent="0" marL="0">
              <a:buNone/>
            </a:pPr>
            <a:r>
              <a:rPr lang="en-US" sz="2800" b="1" dirty="0">
                <a:solidFill>
                  <a:srgbClr val="A78BFA"/>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6537960" y="2633472"/>
            <a:ext cx="1901952" cy="54864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Généralisation</a:t>
            </a:r>
            <a:endParaRPr lang="en-US" sz="1450" dirty="0"/>
          </a:p>
        </p:txBody>
      </p:sp>
      <p:sp>
        <p:nvSpPr>
          <p:cNvPr id="17" name="Text 15"/>
          <p:cNvSpPr txBox="1"/>
          <p:nvPr/>
        </p:nvSpPr>
        <p:spPr>
          <a:xfrm>
            <a:off x="6537960" y="3246120"/>
            <a:ext cx="1901952" cy="256032"/>
          </a:xfrm>
          <a:prstGeom prst="rect">
            <a:avLst/>
          </a:prstGeom>
          <a:noFill/>
          <a:ln/>
        </p:spPr>
        <p:txBody>
          <a:bodyPr wrap="square" lIns="0" tIns="0" rIns="0" bIns="0" rtlCol="0" anchor="t"/>
          <a:lstStyle/>
          <a:p>
            <a:pPr indent="0" marL="0">
              <a:buNone/>
            </a:pPr>
            <a:r>
              <a:rPr lang="en-US" sz="1100" b="1" dirty="0">
                <a:solidFill>
                  <a:srgbClr val="34D399"/>
                </a:solidFill>
                <a:latin typeface="Calibri" pitchFamily="34" charset="0"/>
                <a:ea typeface="Calibri" pitchFamily="34" charset="-122"/>
                <a:cs typeface="Calibri" pitchFamily="34" charset="-120"/>
              </a:rPr>
              <a:t>3 mois</a:t>
            </a:r>
            <a:endParaRPr lang="en-US" sz="1100" dirty="0"/>
          </a:p>
        </p:txBody>
      </p:sp>
      <p:sp>
        <p:nvSpPr>
          <p:cNvPr id="18" name="Text 16"/>
          <p:cNvSpPr txBox="1"/>
          <p:nvPr/>
        </p:nvSpPr>
        <p:spPr>
          <a:xfrm>
            <a:off x="6537960" y="3611880"/>
            <a:ext cx="1901952" cy="118872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Extension à l'ensemble du référentiel, intégration au core banking, formation des équipes conformité.</a:t>
            </a:r>
            <a:endParaRPr lang="en-US" sz="1100" dirty="0"/>
          </a:p>
        </p:txBody>
      </p:sp>
      <p:sp>
        <p:nvSpPr>
          <p:cNvPr id="19" name="Shape 17"/>
          <p:cNvSpPr/>
          <p:nvPr/>
        </p:nvSpPr>
        <p:spPr>
          <a:xfrm>
            <a:off x="9025128" y="1874520"/>
            <a:ext cx="2487168" cy="3063240"/>
          </a:xfrm>
          <a:prstGeom prst="roundRect">
            <a:avLst>
              <a:gd name="adj" fmla="val 3309"/>
            </a:avLst>
          </a:prstGeom>
          <a:solidFill>
            <a:srgbClr val="0E1523"/>
          </a:solidFill>
          <a:ln w="12700">
            <a:solidFill>
              <a:srgbClr val="1F2A40"/>
            </a:solidFill>
            <a:prstDash val="solid"/>
          </a:ln>
        </p:spPr>
      </p:sp>
      <p:sp>
        <p:nvSpPr>
          <p:cNvPr id="20" name="Text 18"/>
          <p:cNvSpPr txBox="1"/>
          <p:nvPr/>
        </p:nvSpPr>
        <p:spPr>
          <a:xfrm>
            <a:off x="9317736" y="2103120"/>
            <a:ext cx="1901952" cy="457200"/>
          </a:xfrm>
          <a:prstGeom prst="rect">
            <a:avLst/>
          </a:prstGeom>
          <a:noFill/>
          <a:ln/>
        </p:spPr>
        <p:txBody>
          <a:bodyPr wrap="square" lIns="0" tIns="0" rIns="0" bIns="0" rtlCol="0" anchor="t"/>
          <a:lstStyle/>
          <a:p>
            <a:pPr indent="0" marL="0">
              <a:buNone/>
            </a:pPr>
            <a:r>
              <a:rPr lang="en-US" sz="2800" b="1" dirty="0">
                <a:solidFill>
                  <a:srgbClr val="A78BFA"/>
                </a:solidFill>
                <a:latin typeface="Cambria" pitchFamily="34" charset="0"/>
                <a:ea typeface="Cambria" pitchFamily="34" charset="-122"/>
                <a:cs typeface="Cambria" pitchFamily="34" charset="-120"/>
              </a:rPr>
              <a:t>04</a:t>
            </a:r>
            <a:endParaRPr lang="en-US" sz="2800" dirty="0"/>
          </a:p>
        </p:txBody>
      </p:sp>
      <p:sp>
        <p:nvSpPr>
          <p:cNvPr id="21" name="Text 19"/>
          <p:cNvSpPr txBox="1"/>
          <p:nvPr/>
        </p:nvSpPr>
        <p:spPr>
          <a:xfrm>
            <a:off x="9317736" y="2633472"/>
            <a:ext cx="1901952" cy="54864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Exploitation et veille</a:t>
            </a:r>
            <a:endParaRPr lang="en-US" sz="1450" dirty="0"/>
          </a:p>
        </p:txBody>
      </p:sp>
      <p:sp>
        <p:nvSpPr>
          <p:cNvPr id="22" name="Text 20"/>
          <p:cNvSpPr txBox="1"/>
          <p:nvPr/>
        </p:nvSpPr>
        <p:spPr>
          <a:xfrm>
            <a:off x="9317736" y="3246120"/>
            <a:ext cx="1901952" cy="256032"/>
          </a:xfrm>
          <a:prstGeom prst="rect">
            <a:avLst/>
          </a:prstGeom>
          <a:noFill/>
          <a:ln/>
        </p:spPr>
        <p:txBody>
          <a:bodyPr wrap="square" lIns="0" tIns="0" rIns="0" bIns="0" rtlCol="0" anchor="t"/>
          <a:lstStyle/>
          <a:p>
            <a:pPr indent="0" marL="0">
              <a:buNone/>
            </a:pPr>
            <a:r>
              <a:rPr lang="en-US" sz="1100" b="1" dirty="0">
                <a:solidFill>
                  <a:srgbClr val="34D399"/>
                </a:solidFill>
                <a:latin typeface="Calibri" pitchFamily="34" charset="0"/>
                <a:ea typeface="Calibri" pitchFamily="34" charset="-122"/>
                <a:cs typeface="Calibri" pitchFamily="34" charset="-120"/>
              </a:rPr>
              <a:t>en continu</a:t>
            </a:r>
            <a:endParaRPr lang="en-US" sz="1100" dirty="0"/>
          </a:p>
        </p:txBody>
      </p:sp>
      <p:sp>
        <p:nvSpPr>
          <p:cNvPr id="23" name="Text 21"/>
          <p:cNvSpPr txBox="1"/>
          <p:nvPr/>
        </p:nvSpPr>
        <p:spPr>
          <a:xfrm>
            <a:off x="9317736" y="3611880"/>
            <a:ext cx="1901952" cy="1188720"/>
          </a:xfrm>
          <a:prstGeom prst="rect">
            <a:avLst/>
          </a:prstGeom>
          <a:noFill/>
          <a:ln/>
        </p:spPr>
        <p:txBody>
          <a:bodyPr wrap="square" lIns="0" tIns="0" rIns="0" bIns="0" rtlCol="0" anchor="t"/>
          <a:lstStyle/>
          <a:p>
            <a:pPr indent="0" marL="0">
              <a:lnSpc>
                <a:spcPts val="1600"/>
              </a:lnSpc>
              <a:buNone/>
            </a:pPr>
            <a:r>
              <a:rPr lang="en-US" sz="1100" dirty="0">
                <a:solidFill>
                  <a:srgbClr val="93A1BC"/>
                </a:solidFill>
                <a:latin typeface="Calibri" pitchFamily="34" charset="0"/>
                <a:ea typeface="Calibri" pitchFamily="34" charset="-122"/>
                <a:cs typeface="Calibri" pitchFamily="34" charset="-120"/>
              </a:rPr>
              <a:t>Mise à jour des référentiels réglementaires, ajout de scénarios, revue trimestrielle avec la direction.</a:t>
            </a:r>
            <a:endParaRPr lang="en-US" sz="1100" dirty="0"/>
          </a:p>
        </p:txBody>
      </p:sp>
      <p:sp>
        <p:nvSpPr>
          <p:cNvPr id="24" name="Shape 22"/>
          <p:cNvSpPr/>
          <p:nvPr/>
        </p:nvSpPr>
        <p:spPr>
          <a:xfrm>
            <a:off x="685800" y="5166360"/>
            <a:ext cx="10817352" cy="777240"/>
          </a:xfrm>
          <a:prstGeom prst="roundRect">
            <a:avLst>
              <a:gd name="adj" fmla="val 10588"/>
            </a:avLst>
          </a:prstGeom>
          <a:solidFill>
            <a:srgbClr val="131C2E"/>
          </a:solidFill>
          <a:ln w="12700">
            <a:solidFill>
              <a:srgbClr val="1F2A40"/>
            </a:solidFill>
            <a:prstDash val="solid"/>
          </a:ln>
        </p:spPr>
      </p:sp>
      <p:sp>
        <p:nvSpPr>
          <p:cNvPr id="25" name="Text 23"/>
          <p:cNvSpPr txBox="1"/>
          <p:nvPr/>
        </p:nvSpPr>
        <p:spPr>
          <a:xfrm>
            <a:off x="1097280" y="5394960"/>
            <a:ext cx="10058400" cy="365760"/>
          </a:xfrm>
          <a:prstGeom prst="rect">
            <a:avLst/>
          </a:prstGeom>
          <a:noFill/>
          <a:ln/>
        </p:spPr>
        <p:txBody>
          <a:bodyPr wrap="square" lIns="0" tIns="0" rIns="0" bIns="0" rtlCol="0" anchor="t"/>
          <a:lstStyle/>
          <a:p>
            <a:pPr indent="0" marL="0">
              <a:buNone/>
            </a:pPr>
            <a:r>
              <a:rPr lang="en-US" sz="1350" dirty="0">
                <a:solidFill>
                  <a:srgbClr val="E7ECF6"/>
                </a:solidFill>
                <a:latin typeface="Calibri" pitchFamily="34" charset="0"/>
                <a:ea typeface="Calibri" pitchFamily="34" charset="-122"/>
                <a:cs typeface="Calibri" pitchFamily="34" charset="-120"/>
              </a:rPr>
              <a:t>L'étape 1 se conclut par un rapport chiffré qui vous reste acquis, même si vous n'allez pas plus loin.</a:t>
            </a:r>
            <a:endParaRPr lang="en-US" sz="1350" dirty="0"/>
          </a:p>
        </p:txBody>
      </p:sp>
      <p:sp>
        <p:nvSpPr>
          <p:cNvPr id="26" name="Text 24"/>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27" name="Text 25"/>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C17"/>
        </a:solidFill>
      </p:bgPr>
    </p:bg>
    <p:spTree>
      <p:nvGrpSpPr>
        <p:cNvPr id="1" name=""/>
        <p:cNvGrpSpPr/>
        <p:nvPr/>
      </p:nvGrpSpPr>
      <p:grpSpPr>
        <a:xfrm>
          <a:off x="0" y="0"/>
          <a:ext cx="0" cy="0"/>
          <a:chOff x="0" y="0"/>
          <a:chExt cx="0" cy="0"/>
        </a:xfrm>
      </p:grpSpPr>
      <p:sp>
        <p:nvSpPr>
          <p:cNvPr id="2" name="Text 0"/>
          <p:cNvSpPr txBox="1"/>
          <p:nvPr/>
        </p:nvSpPr>
        <p:spPr>
          <a:xfrm>
            <a:off x="685800" y="384048"/>
            <a:ext cx="10817352" cy="256032"/>
          </a:xfrm>
          <a:prstGeom prst="rect">
            <a:avLst/>
          </a:prstGeom>
          <a:noFill/>
          <a:ln/>
        </p:spPr>
        <p:txBody>
          <a:bodyPr wrap="square" lIns="0" tIns="0" rIns="0" bIns="0" rtlCol="0" anchor="t"/>
          <a:lstStyle/>
          <a:p>
            <a:pPr indent="0" marL="0">
              <a:buNone/>
            </a:pPr>
            <a:r>
              <a:rPr lang="en-US" sz="1100" b="1" spc="160" kern="0" dirty="0">
                <a:solidFill>
                  <a:srgbClr val="A78BFA"/>
                </a:solidFill>
                <a:latin typeface="Calibri" pitchFamily="34" charset="0"/>
                <a:ea typeface="Calibri" pitchFamily="34" charset="-122"/>
                <a:cs typeface="Calibri" pitchFamily="34" charset="-120"/>
              </a:rPr>
              <a:t>OBJECTIONS</a:t>
            </a:r>
            <a:endParaRPr lang="en-US" sz="1100" dirty="0"/>
          </a:p>
        </p:txBody>
      </p:sp>
      <p:sp>
        <p:nvSpPr>
          <p:cNvPr id="3" name="Text 1"/>
          <p:cNvSpPr txBox="1"/>
          <p:nvPr/>
        </p:nvSpPr>
        <p:spPr>
          <a:xfrm>
            <a:off x="685800" y="658368"/>
            <a:ext cx="10817352" cy="65836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Les questions qui reviennent en comité</a:t>
            </a:r>
            <a:endParaRPr lang="en-US" sz="3100" dirty="0"/>
          </a:p>
        </p:txBody>
      </p:sp>
      <p:sp>
        <p:nvSpPr>
          <p:cNvPr id="4" name="Shape 2"/>
          <p:cNvSpPr/>
          <p:nvPr/>
        </p:nvSpPr>
        <p:spPr>
          <a:xfrm>
            <a:off x="685800" y="1783080"/>
            <a:ext cx="10817352" cy="1298448"/>
          </a:xfrm>
          <a:prstGeom prst="roundRect">
            <a:avLst>
              <a:gd name="adj" fmla="val 6338"/>
            </a:avLst>
          </a:prstGeom>
          <a:solidFill>
            <a:srgbClr val="0E1523"/>
          </a:solidFill>
          <a:ln w="12700">
            <a:solidFill>
              <a:srgbClr val="1F2A40"/>
            </a:solidFill>
            <a:prstDash val="solid"/>
          </a:ln>
        </p:spPr>
      </p:sp>
      <p:sp>
        <p:nvSpPr>
          <p:cNvPr id="5" name="Shape 3"/>
          <p:cNvSpPr/>
          <p:nvPr/>
        </p:nvSpPr>
        <p:spPr>
          <a:xfrm>
            <a:off x="1005840" y="2148840"/>
            <a:ext cx="548640" cy="548640"/>
          </a:xfrm>
          <a:prstGeom prst="roundRect">
            <a:avLst>
              <a:gd name="adj" fmla="val 46667"/>
            </a:avLst>
          </a:prstGeom>
          <a:solidFill>
            <a:srgbClr val="38BDF8">
              <a:alpha val="16000"/>
            </a:srgbClr>
          </a:solidFill>
          <a:ln w="12700">
            <a:solidFill>
              <a:srgbClr val="38BDF8">
                <a:alpha val="40000"/>
              </a:srgbClr>
            </a:solidFill>
            <a:prstDash val="solid"/>
          </a:ln>
        </p:spPr>
      </p:sp>
      <p:pic>
        <p:nvPicPr>
          <p:cNvPr id="6" name="Image 0" descr="preencoded.png">    </p:cNvPr>
          <p:cNvPicPr>
            <a:picLocks noChangeAspect="1"/>
          </p:cNvPicPr>
          <p:nvPr/>
        </p:nvPicPr>
        <p:blipFill>
          <a:blip r:embed="rId1"/>
          <a:stretch>
            <a:fillRect/>
          </a:stretch>
        </p:blipFill>
        <p:spPr>
          <a:xfrm>
            <a:off x="1132027" y="2275027"/>
            <a:ext cx="296266" cy="296266"/>
          </a:xfrm>
          <a:prstGeom prst="rect">
            <a:avLst/>
          </a:prstGeom>
        </p:spPr>
      </p:pic>
      <p:sp>
        <p:nvSpPr>
          <p:cNvPr id="7" name="Text 4"/>
          <p:cNvSpPr txBox="1"/>
          <p:nvPr/>
        </p:nvSpPr>
        <p:spPr>
          <a:xfrm>
            <a:off x="1737360" y="1984248"/>
            <a:ext cx="9418320" cy="310896"/>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Le moteur d'alerte est-il explicable ?</a:t>
            </a:r>
            <a:endParaRPr lang="en-US" sz="1450" dirty="0"/>
          </a:p>
        </p:txBody>
      </p:sp>
      <p:sp>
        <p:nvSpPr>
          <p:cNvPr id="8" name="Text 5"/>
          <p:cNvSpPr txBox="1"/>
          <p:nvPr/>
        </p:nvSpPr>
        <p:spPr>
          <a:xfrm>
            <a:off x="1737360" y="2350008"/>
            <a:ext cx="9418320" cy="640080"/>
          </a:xfrm>
          <a:prstGeom prst="rect">
            <a:avLst/>
          </a:prstGeom>
          <a:noFill/>
          <a:ln/>
        </p:spPr>
        <p:txBody>
          <a:bodyPr wrap="square" lIns="0" tIns="0" rIns="0" bIns="0" rtlCol="0" anchor="t"/>
          <a:lstStyle/>
          <a:p>
            <a:pPr indent="0" marL="0">
              <a:lnSpc>
                <a:spcPts val="1800"/>
              </a:lnSpc>
              <a:buNone/>
            </a:pPr>
            <a:r>
              <a:rPr lang="en-US" sz="1200" dirty="0">
                <a:solidFill>
                  <a:srgbClr val="93A1BC"/>
                </a:solidFill>
                <a:latin typeface="Calibri" pitchFamily="34" charset="0"/>
                <a:ea typeface="Calibri" pitchFamily="34" charset="-122"/>
                <a:cs typeface="Calibri" pitchFamily="34" charset="-120"/>
              </a:rPr>
              <a:t>Oui, et c'est un choix structurant. Chaque alerte affiche la règle ou le scénario qui l'a déclenchée et les valeurs en cause. Aucune décision ne repose sur un modèle indéfendable devant un inspecteur.</a:t>
            </a:r>
            <a:endParaRPr lang="en-US" sz="1200" dirty="0"/>
          </a:p>
        </p:txBody>
      </p:sp>
      <p:sp>
        <p:nvSpPr>
          <p:cNvPr id="9" name="Shape 6"/>
          <p:cNvSpPr/>
          <p:nvPr/>
        </p:nvSpPr>
        <p:spPr>
          <a:xfrm>
            <a:off x="685800" y="3264408"/>
            <a:ext cx="10817352" cy="1298448"/>
          </a:xfrm>
          <a:prstGeom prst="roundRect">
            <a:avLst>
              <a:gd name="adj" fmla="val 6338"/>
            </a:avLst>
          </a:prstGeom>
          <a:solidFill>
            <a:srgbClr val="0E1523"/>
          </a:solidFill>
          <a:ln w="12700">
            <a:solidFill>
              <a:srgbClr val="1F2A40"/>
            </a:solidFill>
            <a:prstDash val="solid"/>
          </a:ln>
        </p:spPr>
      </p:sp>
      <p:sp>
        <p:nvSpPr>
          <p:cNvPr id="10" name="Shape 7"/>
          <p:cNvSpPr/>
          <p:nvPr/>
        </p:nvSpPr>
        <p:spPr>
          <a:xfrm>
            <a:off x="1005840" y="3630168"/>
            <a:ext cx="548640" cy="548640"/>
          </a:xfrm>
          <a:prstGeom prst="roundRect">
            <a:avLst>
              <a:gd name="adj" fmla="val 46667"/>
            </a:avLst>
          </a:prstGeom>
          <a:solidFill>
            <a:srgbClr val="A78BFA">
              <a:alpha val="16000"/>
            </a:srgbClr>
          </a:solidFill>
          <a:ln w="12700">
            <a:solidFill>
              <a:srgbClr val="A78BFA">
                <a:alpha val="40000"/>
              </a:srgbClr>
            </a:solidFill>
            <a:prstDash val="solid"/>
          </a:ln>
        </p:spPr>
      </p:sp>
      <p:pic>
        <p:nvPicPr>
          <p:cNvPr id="11" name="Image 1" descr="preencoded.png">    </p:cNvPr>
          <p:cNvPicPr>
            <a:picLocks noChangeAspect="1"/>
          </p:cNvPicPr>
          <p:nvPr/>
        </p:nvPicPr>
        <p:blipFill>
          <a:blip r:embed="rId2"/>
          <a:stretch>
            <a:fillRect/>
          </a:stretch>
        </p:blipFill>
        <p:spPr>
          <a:xfrm>
            <a:off x="1132027" y="3756355"/>
            <a:ext cx="296266" cy="296266"/>
          </a:xfrm>
          <a:prstGeom prst="rect">
            <a:avLst/>
          </a:prstGeom>
        </p:spPr>
      </p:pic>
      <p:sp>
        <p:nvSpPr>
          <p:cNvPr id="12" name="Text 8"/>
          <p:cNvSpPr txBox="1"/>
          <p:nvPr/>
        </p:nvSpPr>
        <p:spPr>
          <a:xfrm>
            <a:off x="1737360" y="3465576"/>
            <a:ext cx="9418320" cy="310896"/>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Où sont hébergées les données ?</a:t>
            </a:r>
            <a:endParaRPr lang="en-US" sz="1450" dirty="0"/>
          </a:p>
        </p:txBody>
      </p:sp>
      <p:sp>
        <p:nvSpPr>
          <p:cNvPr id="13" name="Text 9"/>
          <p:cNvSpPr txBox="1"/>
          <p:nvPr/>
        </p:nvSpPr>
        <p:spPr>
          <a:xfrm>
            <a:off x="1737360" y="3831336"/>
            <a:ext cx="9418320" cy="640080"/>
          </a:xfrm>
          <a:prstGeom prst="rect">
            <a:avLst/>
          </a:prstGeom>
          <a:noFill/>
          <a:ln/>
        </p:spPr>
        <p:txBody>
          <a:bodyPr wrap="square" lIns="0" tIns="0" rIns="0" bIns="0" rtlCol="0" anchor="t"/>
          <a:lstStyle/>
          <a:p>
            <a:pPr indent="0" marL="0">
              <a:lnSpc>
                <a:spcPts val="1800"/>
              </a:lnSpc>
              <a:buNone/>
            </a:pPr>
            <a:r>
              <a:rPr lang="en-US" sz="1200" dirty="0">
                <a:solidFill>
                  <a:srgbClr val="93A1BC"/>
                </a:solidFill>
                <a:latin typeface="Calibri" pitchFamily="34" charset="0"/>
                <a:ea typeface="Calibri" pitchFamily="34" charset="-122"/>
                <a:cs typeface="Calibri" pitchFamily="34" charset="-120"/>
              </a:rPr>
              <a:t>Au choix : sur votre propre infrastructure, ou dans un centre de données de la région. Nous n'exportons jamais de données clients hors du périmètre que vous définissez.</a:t>
            </a:r>
            <a:endParaRPr lang="en-US" sz="1200" dirty="0"/>
          </a:p>
        </p:txBody>
      </p:sp>
      <p:sp>
        <p:nvSpPr>
          <p:cNvPr id="14" name="Shape 10"/>
          <p:cNvSpPr/>
          <p:nvPr/>
        </p:nvSpPr>
        <p:spPr>
          <a:xfrm>
            <a:off x="685800" y="4745736"/>
            <a:ext cx="10817352" cy="1298448"/>
          </a:xfrm>
          <a:prstGeom prst="roundRect">
            <a:avLst>
              <a:gd name="adj" fmla="val 6338"/>
            </a:avLst>
          </a:prstGeom>
          <a:solidFill>
            <a:srgbClr val="0E1523"/>
          </a:solidFill>
          <a:ln w="12700">
            <a:solidFill>
              <a:srgbClr val="1F2A40"/>
            </a:solidFill>
            <a:prstDash val="solid"/>
          </a:ln>
        </p:spPr>
      </p:sp>
      <p:sp>
        <p:nvSpPr>
          <p:cNvPr id="15" name="Shape 11"/>
          <p:cNvSpPr/>
          <p:nvPr/>
        </p:nvSpPr>
        <p:spPr>
          <a:xfrm>
            <a:off x="1005840" y="5111496"/>
            <a:ext cx="548640" cy="548640"/>
          </a:xfrm>
          <a:prstGeom prst="roundRect">
            <a:avLst>
              <a:gd name="adj" fmla="val 46667"/>
            </a:avLst>
          </a:prstGeom>
          <a:solidFill>
            <a:srgbClr val="38BDF8">
              <a:alpha val="16000"/>
            </a:srgbClr>
          </a:solidFill>
          <a:ln w="12700">
            <a:solidFill>
              <a:srgbClr val="38BDF8">
                <a:alpha val="40000"/>
              </a:srgbClr>
            </a:solidFill>
            <a:prstDash val="solid"/>
          </a:ln>
        </p:spPr>
      </p:sp>
      <p:pic>
        <p:nvPicPr>
          <p:cNvPr id="16" name="Image 2" descr="preencoded.png">    </p:cNvPr>
          <p:cNvPicPr>
            <a:picLocks noChangeAspect="1"/>
          </p:cNvPicPr>
          <p:nvPr/>
        </p:nvPicPr>
        <p:blipFill>
          <a:blip r:embed="rId3"/>
          <a:stretch>
            <a:fillRect/>
          </a:stretch>
        </p:blipFill>
        <p:spPr>
          <a:xfrm>
            <a:off x="1132027" y="5237683"/>
            <a:ext cx="296266" cy="296266"/>
          </a:xfrm>
          <a:prstGeom prst="rect">
            <a:avLst/>
          </a:prstGeom>
        </p:spPr>
      </p:pic>
      <p:sp>
        <p:nvSpPr>
          <p:cNvPr id="17" name="Text 12"/>
          <p:cNvSpPr txBox="1"/>
          <p:nvPr/>
        </p:nvSpPr>
        <p:spPr>
          <a:xfrm>
            <a:off x="1737360" y="4946904"/>
            <a:ext cx="9418320" cy="310896"/>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Combien de temps avant les premiers résultats ?</a:t>
            </a:r>
            <a:endParaRPr lang="en-US" sz="1450" dirty="0"/>
          </a:p>
        </p:txBody>
      </p:sp>
      <p:sp>
        <p:nvSpPr>
          <p:cNvPr id="18" name="Text 13"/>
          <p:cNvSpPr txBox="1"/>
          <p:nvPr/>
        </p:nvSpPr>
        <p:spPr>
          <a:xfrm>
            <a:off x="1737360" y="5312664"/>
            <a:ext cx="9418320" cy="640080"/>
          </a:xfrm>
          <a:prstGeom prst="rect">
            <a:avLst/>
          </a:prstGeom>
          <a:noFill/>
          <a:ln/>
        </p:spPr>
        <p:txBody>
          <a:bodyPr wrap="square" lIns="0" tIns="0" rIns="0" bIns="0" rtlCol="0" anchor="t"/>
          <a:lstStyle/>
          <a:p>
            <a:pPr indent="0" marL="0">
              <a:lnSpc>
                <a:spcPts val="1800"/>
              </a:lnSpc>
              <a:buNone/>
            </a:pPr>
            <a:r>
              <a:rPr lang="en-US" sz="1200" dirty="0">
                <a:solidFill>
                  <a:srgbClr val="93A1BC"/>
                </a:solidFill>
                <a:latin typeface="Calibri" pitchFamily="34" charset="0"/>
                <a:ea typeface="Calibri" pitchFamily="34" charset="-122"/>
                <a:cs typeface="Calibri" pitchFamily="34" charset="-120"/>
              </a:rPr>
              <a:t>Le diagnostic de fiabilité produit des chiffres exploitables en deux semaines. Un pilote complet est opérationnel en six à huit semaines.</a:t>
            </a:r>
            <a:endParaRPr lang="en-US" sz="1200" dirty="0"/>
          </a:p>
        </p:txBody>
      </p:sp>
      <p:sp>
        <p:nvSpPr>
          <p:cNvPr id="19" name="Text 14"/>
          <p:cNvSpPr txBox="1"/>
          <p:nvPr/>
        </p:nvSpPr>
        <p:spPr>
          <a:xfrm>
            <a:off x="685800" y="6419088"/>
            <a:ext cx="6400800" cy="228600"/>
          </a:xfrm>
          <a:prstGeom prst="rect">
            <a:avLst/>
          </a:prstGeom>
          <a:noFill/>
          <a:ln/>
        </p:spPr>
        <p:txBody>
          <a:bodyPr wrap="square" lIns="0" tIns="0" rIns="0" bIns="0" rtlCol="0" anchor="t"/>
          <a:lstStyle/>
          <a:p>
            <a:pPr indent="0" marL="0">
              <a:buNone/>
            </a:pPr>
            <a:r>
              <a:rPr lang="en-US" sz="900" dirty="0">
                <a:solidFill>
                  <a:srgbClr val="5B6A85"/>
                </a:solidFill>
                <a:latin typeface="Calibri" pitchFamily="34" charset="0"/>
                <a:ea typeface="Calibri" pitchFamily="34" charset="-122"/>
                <a:cs typeface="Calibri" pitchFamily="34" charset="-120"/>
              </a:rPr>
              <a:t>Konformix · Konformix Vigil</a:t>
            </a:r>
            <a:endParaRPr lang="en-US" sz="900" dirty="0"/>
          </a:p>
        </p:txBody>
      </p:sp>
      <p:sp>
        <p:nvSpPr>
          <p:cNvPr id="20" name="Text 15"/>
          <p:cNvSpPr txBox="1"/>
          <p:nvPr/>
        </p:nvSpPr>
        <p:spPr>
          <a:xfrm>
            <a:off x="8686800" y="6419088"/>
            <a:ext cx="2816352" cy="228600"/>
          </a:xfrm>
          <a:prstGeom prst="rect">
            <a:avLst/>
          </a:prstGeom>
          <a:noFill/>
          <a:ln/>
        </p:spPr>
        <p:txBody>
          <a:bodyPr wrap="square" lIns="0" tIns="0" rIns="0" bIns="0" rtlCol="0" anchor="t"/>
          <a:lstStyle/>
          <a:p>
            <a:pPr algn="r" indent="0" marL="0">
              <a:buNone/>
            </a:pPr>
            <a:r>
              <a:rPr lang="en-US" sz="900" dirty="0">
                <a:solidFill>
                  <a:srgbClr val="5B6A85"/>
                </a:solidFill>
                <a:latin typeface="Calibri" pitchFamily="34" charset="0"/>
                <a:ea typeface="Calibri" pitchFamily="34" charset="-122"/>
                <a:cs typeface="Calibri" pitchFamily="34" charset="-120"/>
              </a:rPr>
              <a:t>konformix.com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80F"/>
        </a:solidFill>
      </p:bgPr>
    </p:bg>
    <p:spTree>
      <p:nvGrpSpPr>
        <p:cNvPr id="1" name=""/>
        <p:cNvGrpSpPr/>
        <p:nvPr/>
      </p:nvGrpSpPr>
      <p:grpSpPr>
        <a:xfrm>
          <a:off x="0" y="0"/>
          <a:ext cx="0" cy="0"/>
          <a:chOff x="0" y="0"/>
          <a:chExt cx="0" cy="0"/>
        </a:xfrm>
      </p:grpSpPr>
      <p:sp>
        <p:nvSpPr>
          <p:cNvPr id="2" name="Shape 0"/>
          <p:cNvSpPr/>
          <p:nvPr/>
        </p:nvSpPr>
        <p:spPr>
          <a:xfrm>
            <a:off x="6949440" y="-1097280"/>
            <a:ext cx="6400800" cy="5486400"/>
          </a:xfrm>
          <a:prstGeom prst="ellipse">
            <a:avLst/>
          </a:prstGeom>
          <a:solidFill>
            <a:srgbClr val="A78BFA">
              <a:alpha val="10000"/>
            </a:srgbClr>
          </a:solidFill>
          <a:ln w="12700">
            <a:solidFill>
              <a:srgbClr val="A78BFA">
                <a:alpha val="0"/>
              </a:srgbClr>
            </a:solidFill>
            <a:prstDash val="solid"/>
          </a:ln>
        </p:spPr>
      </p:sp>
      <p:sp>
        <p:nvSpPr>
          <p:cNvPr id="3" name="Shape 1"/>
          <p:cNvSpPr/>
          <p:nvPr/>
        </p:nvSpPr>
        <p:spPr>
          <a:xfrm>
            <a:off x="-1737360" y="3840480"/>
            <a:ext cx="5120640" cy="4023360"/>
          </a:xfrm>
          <a:prstGeom prst="ellipse">
            <a:avLst/>
          </a:prstGeom>
          <a:solidFill>
            <a:srgbClr val="38BDF8">
              <a:alpha val="7000"/>
            </a:srgbClr>
          </a:solidFill>
          <a:ln w="12700">
            <a:solidFill>
              <a:srgbClr val="38BDF8">
                <a:alpha val="0"/>
              </a:srgbClr>
            </a:solidFill>
            <a:prstDash val="solid"/>
          </a:ln>
        </p:spPr>
      </p:sp>
      <p:pic>
        <p:nvPicPr>
          <p:cNvPr id="4" name="Image 0" descr="preencoded.png">    </p:cNvPr>
          <p:cNvPicPr>
            <a:picLocks noChangeAspect="1"/>
          </p:cNvPicPr>
          <p:nvPr/>
        </p:nvPicPr>
        <p:blipFill>
          <a:blip r:embed="rId1"/>
          <a:stretch>
            <a:fillRect/>
          </a:stretch>
        </p:blipFill>
        <p:spPr>
          <a:xfrm>
            <a:off x="685800" y="1005840"/>
            <a:ext cx="731520" cy="731520"/>
          </a:xfrm>
          <a:prstGeom prst="rect">
            <a:avLst/>
          </a:prstGeom>
        </p:spPr>
      </p:pic>
      <p:sp>
        <p:nvSpPr>
          <p:cNvPr id="5" name="Text 2"/>
          <p:cNvSpPr txBox="1"/>
          <p:nvPr/>
        </p:nvSpPr>
        <p:spPr>
          <a:xfrm>
            <a:off x="685800" y="2057400"/>
            <a:ext cx="6675120" cy="1463040"/>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Commençons par mesurer, pas par vendre.</a:t>
            </a:r>
            <a:endParaRPr lang="en-US" sz="3400" dirty="0"/>
          </a:p>
        </p:txBody>
      </p:sp>
      <p:sp>
        <p:nvSpPr>
          <p:cNvPr id="6" name="Text 3"/>
          <p:cNvSpPr txBox="1"/>
          <p:nvPr/>
        </p:nvSpPr>
        <p:spPr>
          <a:xfrm>
            <a:off x="685800" y="3749040"/>
            <a:ext cx="6583680" cy="1280160"/>
          </a:xfrm>
          <a:prstGeom prst="rect">
            <a:avLst/>
          </a:prstGeom>
          <a:noFill/>
          <a:ln/>
        </p:spPr>
        <p:txBody>
          <a:bodyPr wrap="square" lIns="0" tIns="0" rIns="0" bIns="0" rtlCol="0" anchor="t"/>
          <a:lstStyle/>
          <a:p>
            <a:pPr indent="0" marL="0">
              <a:lnSpc>
                <a:spcPts val="2200"/>
              </a:lnSpc>
              <a:buNone/>
            </a:pPr>
            <a:r>
              <a:rPr lang="en-US" sz="1450" dirty="0">
                <a:solidFill>
                  <a:srgbClr val="93A1BC"/>
                </a:solidFill>
                <a:latin typeface="Calibri" pitchFamily="34" charset="0"/>
                <a:ea typeface="Calibri" pitchFamily="34" charset="-122"/>
                <a:cs typeface="Calibri" pitchFamily="34" charset="-120"/>
              </a:rPr>
              <a:t>Confiez-nous un extrait anonymisé de vos flux et de votre référentiel. Sous deux semaines, nous mesurons le bruit de votre paramétrage actuel et ce qu'un profilage comportemental y changerait.</a:t>
            </a:r>
            <a:endParaRPr lang="en-US" sz="1450" dirty="0"/>
          </a:p>
        </p:txBody>
      </p:sp>
      <p:sp>
        <p:nvSpPr>
          <p:cNvPr id="7" name="Shape 4"/>
          <p:cNvSpPr/>
          <p:nvPr/>
        </p:nvSpPr>
        <p:spPr>
          <a:xfrm>
            <a:off x="7863840" y="2057400"/>
            <a:ext cx="3639312" cy="3291840"/>
          </a:xfrm>
          <a:prstGeom prst="roundRect">
            <a:avLst>
              <a:gd name="adj" fmla="val 2500"/>
            </a:avLst>
          </a:prstGeom>
          <a:solidFill>
            <a:srgbClr val="0E1523"/>
          </a:solidFill>
          <a:ln w="12700">
            <a:solidFill>
              <a:srgbClr val="1F2A40"/>
            </a:solidFill>
            <a:prstDash val="solid"/>
          </a:ln>
        </p:spPr>
      </p:sp>
      <p:sp>
        <p:nvSpPr>
          <p:cNvPr id="8" name="Text 5"/>
          <p:cNvSpPr txBox="1"/>
          <p:nvPr/>
        </p:nvSpPr>
        <p:spPr>
          <a:xfrm>
            <a:off x="8183880" y="2286000"/>
            <a:ext cx="3017520"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Nous contacter</a:t>
            </a:r>
            <a:endParaRPr lang="en-US" sz="1500" dirty="0"/>
          </a:p>
        </p:txBody>
      </p:sp>
      <p:sp>
        <p:nvSpPr>
          <p:cNvPr id="9" name="Shape 6"/>
          <p:cNvSpPr/>
          <p:nvPr/>
        </p:nvSpPr>
        <p:spPr>
          <a:xfrm>
            <a:off x="8183880" y="2788920"/>
            <a:ext cx="402336" cy="402336"/>
          </a:xfrm>
          <a:prstGeom prst="roundRect">
            <a:avLst>
              <a:gd name="adj" fmla="val 63636"/>
            </a:avLst>
          </a:prstGeom>
          <a:solidFill>
            <a:srgbClr val="38BDF8">
              <a:alpha val="16000"/>
            </a:srgbClr>
          </a:solidFill>
          <a:ln w="12700">
            <a:solidFill>
              <a:srgbClr val="38BDF8">
                <a:alpha val="40000"/>
              </a:srgbClr>
            </a:solidFill>
            <a:prstDash val="solid"/>
          </a:ln>
        </p:spPr>
      </p:sp>
      <p:pic>
        <p:nvPicPr>
          <p:cNvPr id="10" name="Image 1" descr="preencoded.png">    </p:cNvPr>
          <p:cNvPicPr>
            <a:picLocks noChangeAspect="1"/>
          </p:cNvPicPr>
          <p:nvPr/>
        </p:nvPicPr>
        <p:blipFill>
          <a:blip r:embed="rId2"/>
          <a:stretch>
            <a:fillRect/>
          </a:stretch>
        </p:blipFill>
        <p:spPr>
          <a:xfrm>
            <a:off x="8276417" y="2881457"/>
            <a:ext cx="217261" cy="217261"/>
          </a:xfrm>
          <a:prstGeom prst="rect">
            <a:avLst/>
          </a:prstGeom>
        </p:spPr>
      </p:pic>
      <p:sp>
        <p:nvSpPr>
          <p:cNvPr id="11" name="Text 7"/>
          <p:cNvSpPr txBox="1"/>
          <p:nvPr/>
        </p:nvSpPr>
        <p:spPr>
          <a:xfrm>
            <a:off x="8778240" y="2843784"/>
            <a:ext cx="2651760" cy="292608"/>
          </a:xfrm>
          <a:prstGeom prst="rect">
            <a:avLst/>
          </a:prstGeom>
          <a:noFill/>
          <a:ln/>
        </p:spPr>
        <p:txBody>
          <a:bodyPr wrap="square" lIns="0" tIns="0" rIns="0" bIns="0" rtlCol="0" anchor="t"/>
          <a:lstStyle/>
          <a:p>
            <a:pPr indent="0" marL="0">
              <a:buNone/>
            </a:pPr>
            <a:r>
              <a:rPr lang="en-US" sz="1200" dirty="0">
                <a:solidFill>
                  <a:srgbClr val="E7ECF6"/>
                </a:solidFill>
                <a:latin typeface="Calibri" pitchFamily="34" charset="0"/>
                <a:ea typeface="Calibri" pitchFamily="34" charset="-122"/>
                <a:cs typeface="Calibri" pitchFamily="34" charset="-120"/>
              </a:rPr>
              <a:t>commercial@konformix.com</a:t>
            </a:r>
            <a:endParaRPr lang="en-US" sz="1200" dirty="0"/>
          </a:p>
        </p:txBody>
      </p:sp>
      <p:sp>
        <p:nvSpPr>
          <p:cNvPr id="12" name="Shape 8"/>
          <p:cNvSpPr/>
          <p:nvPr/>
        </p:nvSpPr>
        <p:spPr>
          <a:xfrm>
            <a:off x="8183880" y="3392424"/>
            <a:ext cx="402336" cy="402336"/>
          </a:xfrm>
          <a:prstGeom prst="roundRect">
            <a:avLst>
              <a:gd name="adj" fmla="val 63636"/>
            </a:avLst>
          </a:prstGeom>
          <a:solidFill>
            <a:srgbClr val="38BDF8">
              <a:alpha val="16000"/>
            </a:srgbClr>
          </a:solidFill>
          <a:ln w="12700">
            <a:solidFill>
              <a:srgbClr val="38BDF8">
                <a:alpha val="40000"/>
              </a:srgbClr>
            </a:solidFill>
            <a:prstDash val="solid"/>
          </a:ln>
        </p:spPr>
      </p:sp>
      <p:pic>
        <p:nvPicPr>
          <p:cNvPr id="13" name="Image 2" descr="preencoded.png">    </p:cNvPr>
          <p:cNvPicPr>
            <a:picLocks noChangeAspect="1"/>
          </p:cNvPicPr>
          <p:nvPr/>
        </p:nvPicPr>
        <p:blipFill>
          <a:blip r:embed="rId3"/>
          <a:stretch>
            <a:fillRect/>
          </a:stretch>
        </p:blipFill>
        <p:spPr>
          <a:xfrm>
            <a:off x="8276417" y="3484961"/>
            <a:ext cx="217261" cy="217261"/>
          </a:xfrm>
          <a:prstGeom prst="rect">
            <a:avLst/>
          </a:prstGeom>
        </p:spPr>
      </p:pic>
      <p:sp>
        <p:nvSpPr>
          <p:cNvPr id="14" name="Text 9"/>
          <p:cNvSpPr txBox="1"/>
          <p:nvPr/>
        </p:nvSpPr>
        <p:spPr>
          <a:xfrm>
            <a:off x="8778240" y="3447288"/>
            <a:ext cx="2651760" cy="292608"/>
          </a:xfrm>
          <a:prstGeom prst="rect">
            <a:avLst/>
          </a:prstGeom>
          <a:noFill/>
          <a:ln/>
        </p:spPr>
        <p:txBody>
          <a:bodyPr wrap="square" lIns="0" tIns="0" rIns="0" bIns="0" rtlCol="0" anchor="t"/>
          <a:lstStyle/>
          <a:p>
            <a:pPr indent="0" marL="0">
              <a:buNone/>
            </a:pPr>
            <a:r>
              <a:rPr lang="en-US" sz="1200" dirty="0">
                <a:solidFill>
                  <a:srgbClr val="E7ECF6"/>
                </a:solidFill>
                <a:latin typeface="Calibri" pitchFamily="34" charset="0"/>
                <a:ea typeface="Calibri" pitchFamily="34" charset="-122"/>
                <a:cs typeface="Calibri" pitchFamily="34" charset="-120"/>
              </a:rPr>
              <a:t>+221 00 000 00 00</a:t>
            </a:r>
            <a:endParaRPr lang="en-US" sz="1200" dirty="0"/>
          </a:p>
        </p:txBody>
      </p:sp>
      <p:sp>
        <p:nvSpPr>
          <p:cNvPr id="15" name="Shape 10"/>
          <p:cNvSpPr/>
          <p:nvPr/>
        </p:nvSpPr>
        <p:spPr>
          <a:xfrm>
            <a:off x="8183880" y="3995928"/>
            <a:ext cx="402336" cy="402336"/>
          </a:xfrm>
          <a:prstGeom prst="roundRect">
            <a:avLst>
              <a:gd name="adj" fmla="val 63636"/>
            </a:avLst>
          </a:prstGeom>
          <a:solidFill>
            <a:srgbClr val="38BDF8">
              <a:alpha val="16000"/>
            </a:srgbClr>
          </a:solidFill>
          <a:ln w="12700">
            <a:solidFill>
              <a:srgbClr val="38BDF8">
                <a:alpha val="40000"/>
              </a:srgbClr>
            </a:solidFill>
            <a:prstDash val="solid"/>
          </a:ln>
        </p:spPr>
      </p:sp>
      <p:pic>
        <p:nvPicPr>
          <p:cNvPr id="16" name="Image 3" descr="preencoded.png">    </p:cNvPr>
          <p:cNvPicPr>
            <a:picLocks noChangeAspect="1"/>
          </p:cNvPicPr>
          <p:nvPr/>
        </p:nvPicPr>
        <p:blipFill>
          <a:blip r:embed="rId4"/>
          <a:stretch>
            <a:fillRect/>
          </a:stretch>
        </p:blipFill>
        <p:spPr>
          <a:xfrm>
            <a:off x="8276417" y="4088465"/>
            <a:ext cx="217261" cy="217261"/>
          </a:xfrm>
          <a:prstGeom prst="rect">
            <a:avLst/>
          </a:prstGeom>
        </p:spPr>
      </p:pic>
      <p:sp>
        <p:nvSpPr>
          <p:cNvPr id="17" name="Text 11"/>
          <p:cNvSpPr txBox="1"/>
          <p:nvPr/>
        </p:nvSpPr>
        <p:spPr>
          <a:xfrm>
            <a:off x="8778240" y="4050792"/>
            <a:ext cx="2651760" cy="292608"/>
          </a:xfrm>
          <a:prstGeom prst="rect">
            <a:avLst/>
          </a:prstGeom>
          <a:noFill/>
          <a:ln/>
        </p:spPr>
        <p:txBody>
          <a:bodyPr wrap="square" lIns="0" tIns="0" rIns="0" bIns="0" rtlCol="0" anchor="t"/>
          <a:lstStyle/>
          <a:p>
            <a:pPr indent="0" marL="0">
              <a:buNone/>
            </a:pPr>
            <a:r>
              <a:rPr lang="en-US" sz="1200" dirty="0">
                <a:solidFill>
                  <a:srgbClr val="E7ECF6"/>
                </a:solidFill>
                <a:latin typeface="Calibri" pitchFamily="34" charset="0"/>
                <a:ea typeface="Calibri" pitchFamily="34" charset="-122"/>
                <a:cs typeface="Calibri" pitchFamily="34" charset="-120"/>
              </a:rPr>
              <a:t>konformix.com</a:t>
            </a:r>
            <a:endParaRPr lang="en-US" sz="1200" dirty="0"/>
          </a:p>
        </p:txBody>
      </p:sp>
      <p:sp>
        <p:nvSpPr>
          <p:cNvPr id="18" name="Shape 12"/>
          <p:cNvSpPr/>
          <p:nvPr/>
        </p:nvSpPr>
        <p:spPr>
          <a:xfrm>
            <a:off x="8183880" y="4599432"/>
            <a:ext cx="402336" cy="402336"/>
          </a:xfrm>
          <a:prstGeom prst="roundRect">
            <a:avLst>
              <a:gd name="adj" fmla="val 63636"/>
            </a:avLst>
          </a:prstGeom>
          <a:solidFill>
            <a:srgbClr val="38BDF8">
              <a:alpha val="16000"/>
            </a:srgbClr>
          </a:solidFill>
          <a:ln w="12700">
            <a:solidFill>
              <a:srgbClr val="38BDF8">
                <a:alpha val="40000"/>
              </a:srgbClr>
            </a:solidFill>
            <a:prstDash val="solid"/>
          </a:ln>
        </p:spPr>
      </p:sp>
      <p:pic>
        <p:nvPicPr>
          <p:cNvPr id="19" name="Image 4" descr="preencoded.png">    </p:cNvPr>
          <p:cNvPicPr>
            <a:picLocks noChangeAspect="1"/>
          </p:cNvPicPr>
          <p:nvPr/>
        </p:nvPicPr>
        <p:blipFill>
          <a:blip r:embed="rId5"/>
          <a:stretch>
            <a:fillRect/>
          </a:stretch>
        </p:blipFill>
        <p:spPr>
          <a:xfrm>
            <a:off x="8276417" y="4691969"/>
            <a:ext cx="217261" cy="217261"/>
          </a:xfrm>
          <a:prstGeom prst="rect">
            <a:avLst/>
          </a:prstGeom>
        </p:spPr>
      </p:pic>
      <p:sp>
        <p:nvSpPr>
          <p:cNvPr id="20" name="Text 13"/>
          <p:cNvSpPr txBox="1"/>
          <p:nvPr/>
        </p:nvSpPr>
        <p:spPr>
          <a:xfrm>
            <a:off x="8778240" y="4654296"/>
            <a:ext cx="2651760" cy="292608"/>
          </a:xfrm>
          <a:prstGeom prst="rect">
            <a:avLst/>
          </a:prstGeom>
          <a:noFill/>
          <a:ln/>
        </p:spPr>
        <p:txBody>
          <a:bodyPr wrap="square" lIns="0" tIns="0" rIns="0" bIns="0" rtlCol="0" anchor="t"/>
          <a:lstStyle/>
          <a:p>
            <a:pPr indent="0" marL="0">
              <a:buNone/>
            </a:pPr>
            <a:r>
              <a:rPr lang="en-US" sz="1200" dirty="0">
                <a:solidFill>
                  <a:srgbClr val="E7ECF6"/>
                </a:solidFill>
                <a:latin typeface="Calibri" pitchFamily="34" charset="0"/>
                <a:ea typeface="Calibri" pitchFamily="34" charset="-122"/>
                <a:cs typeface="Calibri" pitchFamily="34" charset="-120"/>
              </a:rPr>
              <a:t>Dakar, Sénégal</a:t>
            </a:r>
            <a:endParaRPr lang="en-US" sz="1200" dirty="0"/>
          </a:p>
        </p:txBody>
      </p:sp>
      <p:sp>
        <p:nvSpPr>
          <p:cNvPr id="21" name="Text 14"/>
          <p:cNvSpPr txBox="1"/>
          <p:nvPr/>
        </p:nvSpPr>
        <p:spPr>
          <a:xfrm>
            <a:off x="685800" y="6035040"/>
            <a:ext cx="10817352" cy="274320"/>
          </a:xfrm>
          <a:prstGeom prst="rect">
            <a:avLst/>
          </a:prstGeom>
          <a:noFill/>
          <a:ln/>
        </p:spPr>
        <p:txBody>
          <a:bodyPr wrap="square" lIns="0" tIns="0" rIns="0" bIns="0" rtlCol="0" anchor="t"/>
          <a:lstStyle/>
          <a:p>
            <a:pPr indent="0" marL="0">
              <a:buNone/>
            </a:pPr>
            <a:r>
              <a:rPr lang="en-US" sz="1000" dirty="0">
                <a:solidFill>
                  <a:srgbClr val="5B6A85"/>
                </a:solidFill>
                <a:latin typeface="Calibri" pitchFamily="34" charset="0"/>
                <a:ea typeface="Calibri" pitchFamily="34" charset="-122"/>
                <a:cs typeface="Calibri" pitchFamily="34" charset="-120"/>
              </a:rPr>
              <a:t>Konformix SUARL · Dakar, Sénégal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Konformix SUARL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Konformix Vigil — présentation commerciale</dc:title>
  <dc:subject>Profilage des clients et surveillance des transactions</dc:subject>
  <dc:creator>Konformix SUARL</dc:creator>
  <cp:lastModifiedBy>Konformix SUARL</cp:lastModifiedBy>
  <cp:revision>1</cp:revision>
  <dcterms:created xsi:type="dcterms:W3CDTF">2026-09-11T22:45:48Z</dcterms:created>
  <dcterms:modified xsi:type="dcterms:W3CDTF">2026-09-11T22:45:48Z</dcterms:modified>
</cp:coreProperties>
</file>