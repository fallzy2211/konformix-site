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7ECF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Injonctions</c:v>
                  </c:pt>
                  <c:pt idx="1">
                    <c:v>Blâmes</c:v>
                  </c:pt>
                  <c:pt idx="2">
                    <c:v>Avertissements</c:v>
                  </c:pt>
                  <c:pt idx="3">
                    <c:v>Sanctions pécuniaires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14</c:v>
                </c:pt>
                <c:pt idx="2">
                  <c:v>6</c:v>
                </c:pt>
                <c:pt idx="3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7ECF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Injonctions</c:v>
                  </c:pt>
                  <c:pt idx="1">
                    <c:v>Blâmes</c:v>
                  </c:pt>
                  <c:pt idx="2">
                    <c:v>Avertissements</c:v>
                  </c:pt>
                  <c:pt idx="3">
                    <c:v>Sanctions pécuniaires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6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7ECF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1B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1B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1B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C17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7ECF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80C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Ouverture. Konformix Kontrol : Fiabilisation et notation des données KYC. Rappeler en une phrase ce que fait le module, puis annoncer le plan : le contexte réglementaire, ce que nous constatons, le produit, la démarche.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déroulé et le temps : une vingtaine de minutes de présentation, le reste en échange. Proposer au client de sauter directement au temps qui l'intéresse.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de la société : un éditeur régional, fondé par des praticiens de la conformité bancaire, qui déploie sans faire sortir les données du périmètre de la banque.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contexte avant le produit : la contrainte vient du régulateur, pas de nous. Les trois chiffres sont vérifiables auprès de la BCEAO.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de bascule de l'argumentaire : le risque n'est plus théorique. Les injonctions ont doublé, les sanctions pécuniaires progressé de 118 % en un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réagir : demander au client lequel de ces quatre constats lui parle le plus. C'est la question qui ouvre la discussion sur le diagnostic.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Énoncer la promesse en une phrase et s'y tenir : Passer d'un taux de complétude inconnu à un indicateur suivi mensuellement.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dérouler les six fonctions : en développer deux, celles qui répondent au constat retenu par le client, et laisser la fiche produit pour le reste.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caractère défendable : chaque indicateur se recalcule et s'explique. C'est ce qui distingue un score d'une impression.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Relier chaque bénéfice à un indicateur mesurable : c'est ce qui transformera le pilote en généralisation.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Adapter l'entrée en matière selon l'interlocuteur présent : le RCCI achète la preuve, le DSI achète l'absence de projet lourd.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dénigrer les plateformes internationales : elles conviennent aux groupes avec équipe projet dédiée. Notre terrain, c'est le délai et le coût.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diagnostic est l'objet de la vente du jour. Ne pas chercher à vendre la généralisation en première visite.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objections reviennent systématiquement. Les traiter avant qu'elles ne soient posées met le client en confiance.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le diagnostic à deux semaines : engagement faible pour le client, chiffres en main pour la suite. Repartir avec une date d'extraction.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6766560" cy="585216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566160"/>
            <a:ext cx="5486400" cy="4572000"/>
          </a:xfrm>
          <a:prstGeom prst="ellipse">
            <a:avLst/>
          </a:prstGeom>
          <a:solidFill>
            <a:srgbClr val="A78BFA">
              <a:alpha val="7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1024128" cy="10241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1298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892808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conformité bancaire, industrialisée.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80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FIABILISATION ET NOTATION DES DONNÉES KYC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Konformix Kontrol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224528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en continu la qualité du référentiel client, détecte les anomalies et pilote les campagnes de régularisation jusqu'à leur clôture.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897880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  ·  commercial@konformix.com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parcourir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350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Quinze pages, quatre temps : qui nous sommes, pourquoi le sujet est urgent, ce que fait le module, comment nous le mettons en 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225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en bref et l'équipe fondatrice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3467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4015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et le constat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34015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UEMOA, posture du superviseur, faiblesses du référentiel client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0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4 à 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151376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0E152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3708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425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 Kontrol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44256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Promesse, fonctionnalités, mise en pratique et bénéfices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4443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7 à 10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5175504"/>
            <a:ext cx="10817352" cy="868680"/>
          </a:xfrm>
          <a:prstGeom prst="roundRect">
            <a:avLst>
              <a:gd name="adj" fmla="val 9474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5394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5449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en œuvre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54498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Interlocuteurs, positionnement, démarche en quatre étapes et objections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5468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11 à 15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Konformix en bref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576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édite deux logiciels de conformité pour les banques et établissements financiers d'Afrique de l'Ouest. Nous industrialisons deux chantiers que la plupart des établissements de l'UEMOA traitent encore sous Excel : la fiabilisation des dossiers KYC, la surveillance des clients et des transactions.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1012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à Dakar, calibré sur les exigences de la BCEAO et du GIABA, déployé sur l'infrastructure de la banque ou en hébergement souverain régional.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4407408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131" y="4495739"/>
            <a:ext cx="207386" cy="2073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52728" y="44439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et édité à Dakar, Sénégal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5010912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31" y="5099243"/>
            <a:ext cx="207386" cy="2073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52728" y="50474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banques et établissements financiers de l'UEMOA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5614416"/>
            <a:ext cx="384048" cy="384048"/>
          </a:xfrm>
          <a:prstGeom prst="roundRect">
            <a:avLst>
              <a:gd name="adj" fmla="val 6666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31" y="5702747"/>
            <a:ext cx="207386" cy="2073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52728" y="5650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site ou en hébergement souverain régional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720840" y="1572768"/>
            <a:ext cx="4782312" cy="4279392"/>
          </a:xfrm>
          <a:prstGeom prst="roundRect">
            <a:avLst>
              <a:gd name="adj" fmla="val 1923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040880" y="1847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L'équipe fondatrice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7040880" y="2395728"/>
            <a:ext cx="475488" cy="475488"/>
          </a:xfrm>
          <a:prstGeom prst="roundRect">
            <a:avLst>
              <a:gd name="adj" fmla="val 53846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242" y="2505090"/>
            <a:ext cx="256764" cy="2567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99248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Fallou Sylla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7699248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Cofondateur — Produit &amp; Conformité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7040880" y="299923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Praticien de la conformité et du contrôle permanent en banque, concepteur de la première plateforme de notation de la fiabilité des données KYC.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040880" y="4178808"/>
            <a:ext cx="475488" cy="475488"/>
          </a:xfrm>
          <a:prstGeom prst="roundRect">
            <a:avLst>
              <a:gd name="adj" fmla="val 53846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242" y="4288170"/>
            <a:ext cx="256764" cy="25676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699248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Mansour Diop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7699248" y="4434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Cofondateur — Technologie &amp; Opérations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040880" y="47823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logicielle, déploiements chez les établissements clients et sécurité de la plateforme.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cadre durci, un superviseur plus ferme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2424" cy="2331720"/>
          </a:xfrm>
          <a:prstGeom prst="roundRect">
            <a:avLst>
              <a:gd name="adj" fmla="val 3529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07792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crédit agréés dans l'UEMOA à fin 2025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6732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BCEAO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98264" y="1828800"/>
            <a:ext cx="3392424" cy="2331720"/>
          </a:xfrm>
          <a:prstGeom prst="roundRect">
            <a:avLst>
              <a:gd name="adj" fmla="val 3529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8304" y="201168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718304" y="2907792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instructions BCEAO LBC/FT en vigueur depuis le 18 mars 2025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376732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Instructions n°001 à 003-03-2025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10728" y="1828800"/>
            <a:ext cx="3392424" cy="2331720"/>
          </a:xfrm>
          <a:prstGeom prst="roundRect">
            <a:avLst>
              <a:gd name="adj" fmla="val 3529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30768" y="2011680"/>
            <a:ext cx="2752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2907792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couverts par un cadre réglementaire unique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3767328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Loi uniforme UEMOA, 31 mars 2023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4526280"/>
            <a:ext cx="10817352" cy="1508760"/>
          </a:xfrm>
          <a:prstGeom prst="roundRect">
            <a:avLst>
              <a:gd name="adj" fmla="val 5455"/>
            </a:avLst>
          </a:prstGeom>
          <a:solidFill>
            <a:srgbClr val="131C2E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instructions du 18 mars 2025 ont relevé le niveau d'exigence sur l'identification du client, la connaissance du bénéficiaire effectif et le dispositif de contrôle interne.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394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cadre s'applique désormais aux huit pays de l'Union : ce qui est exigé à Dakar l'est aussi à Abidjan, Lomé ou Bamako.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superviseur nettement plus ferme en 2025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prononcées par la Commission Bancaire de l'UMOA à l'encontre des établissements assujettis. Les injonctions ont doublé en un an, les sanctions pécuniaires ont progressé de 118 %.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703320"/>
            <a:ext cx="3749040" cy="2011680"/>
          </a:xfrm>
          <a:prstGeom prst="roundRect">
            <a:avLst>
              <a:gd name="adj" fmla="val 4091"/>
            </a:avLst>
          </a:prstGeom>
          <a:solidFill>
            <a:srgbClr val="131C2E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3950208"/>
            <a:ext cx="31638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Motifs récurrents : dispositif LBC/FT non conforme, contrôle interne défaillant, gouvernance insuffisante.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709160" y="1691640"/>
          <a:ext cx="6812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709160" y="5870448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Commission Bancaire de l'UMOA, mesures 2024 et 2025.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n'est pas le manque de règles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350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relevons dans presque tous les référentiels clients que nous auditons.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30428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233" y="2434681"/>
            <a:ext cx="306141" cy="30614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3042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dossiers KYC incomplets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8803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expirées, professions non renseignées, bénéficiaires effectifs absents. Personne ne sait chiffrer le taux de complétude.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45352" y="201168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65392" y="230428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785" y="2434681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96912" y="23042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doublons clients invisibles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296912" y="28803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client existe sous trois identités dans le core banking : risque sous-évalué et seuils contournés sans intention.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5800" y="418795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05840" y="4480560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F87171">
              <a:alpha val="16000"/>
            </a:srgbClr>
          </a:solidFill>
          <a:ln w="12700">
            <a:solidFill>
              <a:srgbClr val="F87171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233" y="4610953"/>
            <a:ext cx="306141" cy="30614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480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alertes ingérables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505663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paramétrage par seuils fixes produit des milliers d'alertes par mois, dont plus de 95 % de faux positifs.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45352" y="4187952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65392" y="4480560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785" y="4610953"/>
            <a:ext cx="306141" cy="30614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96912" y="4480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contrôles non traçables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296912" y="505663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 permanent s'exécute dans des classeurs non versionnés. À l'inspection, la preuve devient un exercice périlleux.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822960"/>
            <a:ext cx="5486400" cy="5120640"/>
          </a:xfrm>
          <a:prstGeom prst="ellipse">
            <a:avLst/>
          </a:prstGeom>
          <a:solidFill>
            <a:srgbClr val="38BDF8">
              <a:alpha val="14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module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430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Konformix Kontrol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Fiabilisation et notation des données KYC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en continu la qualité du référentiel client, détecte les anomalies et pilote les campagnes de régularisation jusqu'à leur clôture.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977640"/>
            <a:ext cx="6400800" cy="1417320"/>
          </a:xfrm>
          <a:prstGeom prst="roundRect">
            <a:avLst>
              <a:gd name="adj" fmla="val 5806"/>
            </a:avLst>
          </a:prstGeom>
          <a:solidFill>
            <a:srgbClr val="0E152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2062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VISÉ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526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d'un taux de complétude inconnu à un indicateur suivi mensuellement.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2743200" cy="2743200"/>
          </a:xfrm>
          <a:prstGeom prst="roundRect">
            <a:avLst>
              <a:gd name="adj" fmla="val 9333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096" y="2642616"/>
            <a:ext cx="1481328" cy="148132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fait Konformix Kontrol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88366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080" y="1999336"/>
            <a:ext cx="271577" cy="2715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8408" y="246888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fiabilité par dossier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2944368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note de 0 à 100 par client, fondée sur des règles paramétrables : complétude, validité, cohérence, fraîcheur.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98264" y="1664208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90872" y="188366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544" y="1999336"/>
            <a:ext cx="271577" cy="27157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90872" y="246888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règles sans code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2944368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responsable conformité crée et teste ses règles depuis l'interface, sans passer par la DSI. Chaque règle est versionnée.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10728" y="1664208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03336" y="188366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008" y="1999336"/>
            <a:ext cx="271577" cy="27157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3336" y="2468880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doublons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403336" y="2944368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 approximatif adapté aux graphies ouest-africaines : variantes de noms et translittérations arabes.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5800" y="4050792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8408" y="42702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080" y="4385920"/>
            <a:ext cx="271577" cy="27157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8408" y="4855464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de régularisation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78408" y="5330952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affectées aux agences ou aux chargés de clientèle, avec échéance, relance et suivi du taux de traitement.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98264" y="4050792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90872" y="42702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6544" y="4385920"/>
            <a:ext cx="271577" cy="27157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90872" y="4855464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direction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690872" y="5330952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du score global, classement des agences, top des anomalies. Exportable pour le comité des risques.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10728" y="4050792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03336" y="42702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008" y="4385920"/>
            <a:ext cx="271577" cy="27157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03336" y="4855464"/>
            <a:ext cx="2807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d'audit complète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03336" y="5330952"/>
            <a:ext cx="2807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modifié quelle règle, quand, et quel dossier a été régularisé par qui. Au format attendu par l'inspection.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score de fiabilité, en cinq indicateurs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350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score défendable devant un inspecteur se construit sur des mesures simples, calculées à chaque rafraîchissement du référentiel.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075688" cy="2240280"/>
          </a:xfrm>
          <a:prstGeom prst="roundRect">
            <a:avLst>
              <a:gd name="adj" fmla="val 3965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77440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4612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obligatoires réellement renseignés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07792" y="2148840"/>
            <a:ext cx="2075688" cy="2240280"/>
          </a:xfrm>
          <a:prstGeom prst="roundRect">
            <a:avLst>
              <a:gd name="adj" fmla="val 3965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82112" y="2377440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288036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82112" y="324612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d'identité en cours de validité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9784" y="2148840"/>
            <a:ext cx="2075688" cy="2240280"/>
          </a:xfrm>
          <a:prstGeom prst="roundRect">
            <a:avLst>
              <a:gd name="adj" fmla="val 3965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04104" y="2377440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04104" y="288036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324612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entre champs d'un même dossier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51776" y="2148840"/>
            <a:ext cx="2075688" cy="2240280"/>
          </a:xfrm>
          <a:prstGeom prst="roundRect">
            <a:avLst>
              <a:gd name="adj" fmla="val 3965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26096" y="2377440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288036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Fraîcheur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26096" y="324612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dernière mise à jour du dossier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573768" y="2148840"/>
            <a:ext cx="2075688" cy="2240280"/>
          </a:xfrm>
          <a:prstGeom prst="roundRect">
            <a:avLst>
              <a:gd name="adj" fmla="val 3965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48088" y="2377440"/>
            <a:ext cx="152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848088" y="288036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848088" y="3246120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doublon sur le même client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663440"/>
            <a:ext cx="10817352" cy="1234440"/>
          </a:xfrm>
          <a:prstGeom prst="roundRect">
            <a:avLst>
              <a:gd name="adj" fmla="val 6667"/>
            </a:avLst>
          </a:prstGeom>
          <a:solidFill>
            <a:srgbClr val="131C2E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983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cinq mesures alimentent une note de 0 à 100 par dossier, agrégée par agence et par segment de clientèle, suivie mois après mois.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y gagnez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92424" cy="2743200"/>
          </a:xfrm>
          <a:prstGeom prst="roundRect">
            <a:avLst>
              <a:gd name="adj" fmla="val 30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03120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233" y="2233513"/>
            <a:ext cx="306141" cy="3061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283464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chiffre, pas une impression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42900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complétude devient un indicateur mensuel présentable au comité des risques et au superviseur.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98264" y="1828800"/>
            <a:ext cx="3392424" cy="2743200"/>
          </a:xfrm>
          <a:prstGeom prst="roundRect">
            <a:avLst>
              <a:gd name="adj" fmla="val 30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18304" y="2103120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697" y="2233513"/>
            <a:ext cx="306141" cy="30614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18304" y="283464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remédiation pilotée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718304" y="342900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anomalies sont affectées, échéancées et suivies par entité : la régularisation avance au lieu de s'empiler.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0728" y="1828800"/>
            <a:ext cx="3392424" cy="2743200"/>
          </a:xfrm>
          <a:prstGeom prst="roundRect">
            <a:avLst>
              <a:gd name="adj" fmla="val 30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30768" y="2103120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161" y="2233513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0768" y="283464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preuve prête pour l'inspection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30768" y="3429000"/>
            <a:ext cx="2752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contrôle et chaque correction sont horodatés et exportables, sans reconstitution a posteriori.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5800" y="4846320"/>
            <a:ext cx="10817352" cy="1051560"/>
          </a:xfrm>
          <a:prstGeom prst="roundRect">
            <a:avLst>
              <a:gd name="adj" fmla="val 7826"/>
            </a:avLst>
          </a:prstGeom>
          <a:solidFill>
            <a:srgbClr val="131C2E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97280" y="51389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bénéfice se mesure sur des indicateurs convenus avec vous avant le pilote, puis suivis en comité.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INTERLOCUTEURS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qui le module rend service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960120"/>
          </a:xfrm>
          <a:prstGeom prst="roundRect">
            <a:avLst>
              <a:gd name="adj" fmla="val 8571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84248"/>
            <a:ext cx="548640" cy="548640"/>
          </a:xfrm>
          <a:prstGeom prst="roundRect">
            <a:avLst>
              <a:gd name="adj" fmla="val 4666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110435"/>
            <a:ext cx="296266" cy="2962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93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de la Conformité / RCCI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20574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Démontrer au superviseur et au conseil que le dispositif LBC/FT est effectif, mesuré et documenté.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916936"/>
            <a:ext cx="10817352" cy="960120"/>
          </a:xfrm>
          <a:prstGeom prst="roundRect">
            <a:avLst>
              <a:gd name="adj" fmla="val 8571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3118104"/>
            <a:ext cx="548640" cy="548640"/>
          </a:xfrm>
          <a:prstGeom prst="roundRect">
            <a:avLst>
              <a:gd name="adj" fmla="val 46667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" y="3244291"/>
            <a:ext cx="296266" cy="2962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227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du Contrôle Permanent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31912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et tracer les contrôles de second niveau sans reconstruire un classeur à chaque campagne.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4050792"/>
            <a:ext cx="10817352" cy="960120"/>
          </a:xfrm>
          <a:prstGeom prst="roundRect">
            <a:avLst>
              <a:gd name="adj" fmla="val 8571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4251960"/>
            <a:ext cx="548640" cy="548640"/>
          </a:xfrm>
          <a:prstGeom prst="roundRect">
            <a:avLst>
              <a:gd name="adj" fmla="val 4666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4378147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361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des Risques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40680" y="43251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Disposer d'une cartographie des risques clients alimentée par des données à jour, pas par une enquête annuelle.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85800" y="5184648"/>
            <a:ext cx="10817352" cy="960120"/>
          </a:xfrm>
          <a:prstGeom prst="roundRect">
            <a:avLst>
              <a:gd name="adj" fmla="val 8571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5840" y="5385816"/>
            <a:ext cx="548640" cy="548640"/>
          </a:xfrm>
          <a:prstGeom prst="roundRect">
            <a:avLst>
              <a:gd name="adj" fmla="val 46667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27" y="5512003"/>
            <a:ext cx="296266" cy="2962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54955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des Systèmes d'Information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40680" y="54589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brique de conformité sans refonte du core banking, avec une intégration par fichiers ou API.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Konformix plutôt qu'une plateforme mondiale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2140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233" y="2251801"/>
            <a:ext cx="306141" cy="3061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121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Calibré sur la réglementation UEMOA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697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livrés pré-paramétrés sur les instructions BCEAO de mars 2025 et la loi uniforme de 2023, pas une réglementation européenne adaptée après coup.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65392" y="212140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785" y="2251801"/>
            <a:ext cx="306141" cy="30614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96912" y="21214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coût aligné sur les budgets locaux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296912" y="2697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vendons en FCFA, avec un déploiement initial mesuré en semaines quand les projets internationaux se comptent en mois.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4187952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4480560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233" y="4610953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480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restent chez vous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05663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l'infrastructure de la banque ou en hébergement souverain régional. Aucune donnée client ne quitte le périmètre défini.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5352" y="4187952"/>
            <a:ext cx="5257800" cy="2057400"/>
          </a:xfrm>
          <a:prstGeom prst="roundRect">
            <a:avLst>
              <a:gd name="adj" fmla="val 40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65392" y="4480560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785" y="4610953"/>
            <a:ext cx="306141" cy="30614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96912" y="4480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équipe qui a fait le métier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296912" y="5056632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est fondée par des praticiens du contrôle permanent et de la conformité bancaire en Afrique de l'Ouest.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DÉMARCHE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étapes, un engagement progressif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0E152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2103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63347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fiabilité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semaines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du taux de complétude réel sur un échantillon du référentiel, et chiffrage des anomalies.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65576" y="187452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58184" y="2103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758184" y="263347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cadré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758184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à 8 semaines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58184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sur un segment de clientèle ou un réseau d'agences, avec des objectifs chiffrés convenus à l'avance.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45352" y="187452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03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3347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mois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l'ensemble du référentiel, intégration au core banking, formation des équipes conformité.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25128" y="1874520"/>
            <a:ext cx="2487168" cy="3063240"/>
          </a:xfrm>
          <a:prstGeom prst="roundRect">
            <a:avLst>
              <a:gd name="adj" fmla="val 3309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17736" y="21031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317736" y="2633472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et veille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317736" y="3246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17736" y="3611880"/>
            <a:ext cx="1901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des référentiels réglementaires, ajout de scénarios, revue trimestrielle avec la direction.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166360"/>
            <a:ext cx="10817352" cy="777240"/>
          </a:xfrm>
          <a:prstGeom prst="roundRect">
            <a:avLst>
              <a:gd name="adj" fmla="val 10588"/>
            </a:avLst>
          </a:prstGeom>
          <a:solidFill>
            <a:srgbClr val="131C2E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L'étape 1 se conclut par un rapport chiffré qui vous reste acquis, même si vous n'allez pas plus loin.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questions qui reviennent en comité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298448"/>
          </a:xfrm>
          <a:prstGeom prst="roundRect">
            <a:avLst>
              <a:gd name="adj" fmla="val 6338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148840"/>
            <a:ext cx="548640" cy="548640"/>
          </a:xfrm>
          <a:prstGeom prst="roundRect">
            <a:avLst>
              <a:gd name="adj" fmla="val 4666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" y="2275027"/>
            <a:ext cx="296266" cy="2962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8424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Faut-il remplacer notre core banking ?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5000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Non. Konformix se connecte en lecture à votre référentiel existant, par extraction de fichiers ou par API. Aucune modification de votre système de production n'est nécessaire pour démarrer.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3264408"/>
            <a:ext cx="10817352" cy="1298448"/>
          </a:xfrm>
          <a:prstGeom prst="roundRect">
            <a:avLst>
              <a:gd name="adj" fmla="val 6338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3630168"/>
            <a:ext cx="548640" cy="548640"/>
          </a:xfrm>
          <a:prstGeom prst="roundRect">
            <a:avLst>
              <a:gd name="adj" fmla="val 46667"/>
            </a:avLst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27" y="3756355"/>
            <a:ext cx="296266" cy="2962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46557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sont hébergées les données ?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831336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choix : sur votre propre infrastructure, ou dans un centre de données de la région. Nous n'exportons jamais de données clients hors du périmètre que vous définissez.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4745736"/>
            <a:ext cx="10817352" cy="1298448"/>
          </a:xfrm>
          <a:prstGeom prst="roundRect">
            <a:avLst>
              <a:gd name="adj" fmla="val 6338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05840" y="5111496"/>
            <a:ext cx="548640" cy="548640"/>
          </a:xfrm>
          <a:prstGeom prst="roundRect">
            <a:avLst>
              <a:gd name="adj" fmla="val 46667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5237683"/>
            <a:ext cx="296266" cy="2962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94690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temps avant les premiers résultats ?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31266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de fiabilité produit des chiffres exploitables en deux semaines. Un pilote complet est opérationnel en six à huit semaines.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4190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· Konformix Kontrol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686800" y="6419088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6400800" cy="54864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3840480"/>
            <a:ext cx="5120640" cy="4023360"/>
          </a:xfrm>
          <a:prstGeom prst="ellipse">
            <a:avLst/>
          </a:prstGeom>
          <a:solidFill>
            <a:srgbClr val="38BDF8">
              <a:alpha val="7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058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0574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Commençons par mesurer, pas par vendre.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490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3A1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Envoyez-nous un extrait anonymisé de votre référentiel client. Sous deux semaines, nous vous remettons une évaluation chiffrée de sa fiabilité, sans engagement de votre part.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863840" y="2057400"/>
            <a:ext cx="3639312" cy="3291840"/>
          </a:xfrm>
          <a:prstGeom prst="roundRect">
            <a:avLst>
              <a:gd name="adj" fmla="val 2500"/>
            </a:avLst>
          </a:prstGeom>
          <a:solidFill>
            <a:srgbClr val="0E1523"/>
          </a:solidFill>
          <a:ln w="12700">
            <a:solidFill>
              <a:srgbClr val="1F2A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2286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Nous contacter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83880" y="2788920"/>
            <a:ext cx="402336" cy="402336"/>
          </a:xfrm>
          <a:prstGeom prst="roundRect">
            <a:avLst>
              <a:gd name="adj" fmla="val 63636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6417" y="2881457"/>
            <a:ext cx="217261" cy="2172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778240" y="28437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commercial@konformix.com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83880" y="3392424"/>
            <a:ext cx="402336" cy="402336"/>
          </a:xfrm>
          <a:prstGeom prst="roundRect">
            <a:avLst>
              <a:gd name="adj" fmla="val 63636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417" y="3484961"/>
            <a:ext cx="217261" cy="2172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778240" y="3447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+221 00 000 00 00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183880" y="3995928"/>
            <a:ext cx="402336" cy="402336"/>
          </a:xfrm>
          <a:prstGeom prst="roundRect">
            <a:avLst>
              <a:gd name="adj" fmla="val 63636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417" y="4088465"/>
            <a:ext cx="217261" cy="21726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78240" y="40507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konformix.com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183880" y="4599432"/>
            <a:ext cx="402336" cy="402336"/>
          </a:xfrm>
          <a:prstGeom prst="roundRect">
            <a:avLst>
              <a:gd name="adj" fmla="val 63636"/>
            </a:avLst>
          </a:prstGeom>
          <a:solidFill>
            <a:srgbClr val="38BDF8">
              <a:alpha val="16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417" y="4691969"/>
            <a:ext cx="217261" cy="21726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778240" y="46542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Dakar, Sénégal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Konformix SUARL · Dakar, Sénégal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Konformix SUARL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Konformix Kontrol — présentation commerciale</dc:title>
  <dc:subject>Fiabilisation et notation des données KYC</dc:subject>
  <dc:creator>Konformix SUARL</dc:creator>
  <cp:lastModifiedBy>Konformix SUARL</cp:lastModifiedBy>
  <cp:revision>1</cp:revision>
  <dcterms:created xsi:type="dcterms:W3CDTF">2026-09-11T22:45:48Z</dcterms:created>
  <dcterms:modified xsi:type="dcterms:W3CDTF">2026-09-11T22:45:48Z</dcterms:modified>
</cp:coreProperties>
</file>